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.dat" ContentType="application/x-fontdata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5d7c803022349b2" Type="http://schemas.openxmlformats.org/officeDocument/2006/relationships/extended-properties" Target="docProps/app.xml"/><Relationship Id="Rb43e1c791156481a" Type="http://schemas.openxmlformats.org/officeDocument/2006/relationships/officeDocument" Target="ppt/presentation.xml"/><Relationship Id="Rc9fba73f800e408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ab2106111fe4777"/>
  </p:sldMasterIdLst>
  <p:notesMasterIdLst>
    <p:notesMasterId xmlns:r="http://schemas.openxmlformats.org/officeDocument/2006/relationships" r:id="R6177f30543fe4e4c"/>
  </p:notesMasterIdLst>
  <p:sldIdLst>
    <p:sldId xmlns:r="http://schemas.openxmlformats.org/officeDocument/2006/relationships" id="256" r:id="Rbc04d9597ff64c49"/>
    <p:sldId xmlns:r="http://schemas.openxmlformats.org/officeDocument/2006/relationships" id="257" r:id="R904e0ddfd11c472e"/>
    <p:sldId xmlns:r="http://schemas.openxmlformats.org/officeDocument/2006/relationships" id="258" r:id="Ra901cedf27a64a2b"/>
    <p:sldId xmlns:r="http://schemas.openxmlformats.org/officeDocument/2006/relationships" id="259" r:id="R98a460e018584ae8"/>
    <p:sldId xmlns:r="http://schemas.openxmlformats.org/officeDocument/2006/relationships" id="260" r:id="Rea66513c36ed434b"/>
    <p:sldId xmlns:r="http://schemas.openxmlformats.org/officeDocument/2006/relationships" id="261" r:id="R9b1807ca26d74c74"/>
    <p:sldId xmlns:r="http://schemas.openxmlformats.org/officeDocument/2006/relationships" id="262" r:id="Ref9f89a3cf4640fe"/>
    <p:sldId xmlns:ns0="http://schemas.openxmlformats.org/officeDocument/2006/relationships" id="276" ns0:id="rId27"/>
    <p:sldId xmlns:r="http://schemas.openxmlformats.org/officeDocument/2006/relationships" id="263" r:id="Re727a72e0ef848f1"/>
    <p:sldId xmlns:r="http://schemas.openxmlformats.org/officeDocument/2006/relationships" id="264" r:id="R7bd9b7a6d8d642dd"/>
    <p:sldId xmlns:r="http://schemas.openxmlformats.org/officeDocument/2006/relationships" id="265" r:id="Rb50ff5d2d85c4fb5"/>
    <p:sldId xmlns:r="http://schemas.openxmlformats.org/officeDocument/2006/relationships" id="266" r:id="R21c51553c8094ed9"/>
    <p:sldId xmlns:r="http://schemas.openxmlformats.org/officeDocument/2006/relationships" id="267" r:id="R9bf16f79cd4c4353"/>
    <p:sldId xmlns:ns0="http://schemas.openxmlformats.org/officeDocument/2006/relationships" id="277" ns0:id="rId28"/>
    <p:sldId xmlns:r="http://schemas.openxmlformats.org/officeDocument/2006/relationships" id="268" r:id="Re8b194ca15f24f17"/>
    <p:sldId xmlns:r="http://schemas.openxmlformats.org/officeDocument/2006/relationships" id="269" r:id="Ra11d40e9c05a49bd"/>
    <p:sldId xmlns:r="http://schemas.openxmlformats.org/officeDocument/2006/relationships" id="270" r:id="Rb2fe7432bd1c4e5b"/>
    <p:sldId xmlns:r="http://schemas.openxmlformats.org/officeDocument/2006/relationships" id="271" r:id="Rf7c1bc95cc8a47a8"/>
    <p:sldId xmlns:r="http://schemas.openxmlformats.org/officeDocument/2006/relationships" id="272" r:id="R0ef793034258476e"/>
    <p:sldId xmlns:r="http://schemas.openxmlformats.org/officeDocument/2006/relationships" id="273" r:id="Rc21e83a824f84337"/>
    <p:sldId xmlns:r="http://schemas.openxmlformats.org/officeDocument/2006/relationships" id="274" r:id="Re144bf0a17154815"/>
    <p:sldId xmlns:r="http://schemas.openxmlformats.org/officeDocument/2006/relationships" id="275" r:id="R57061ae06fec4b85"/>
  </p:sldIdLst>
  <p:sldSz cx="9144000" cy="5143500"/>
  <p:notesSz cx="6858000" cy="9144000"/>
  <p:embeddedFontLst>
    <p:embeddedFont>
      <p:font typeface="Arial Black"/>
      <p:regular xmlns:r="http://schemas.openxmlformats.org/officeDocument/2006/relationships" r:id="Rd8bdb06a15da4230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32CD161F-97BF-4DC4-BE34-3F26E5615511}">
  <a:tblStyle styleId="{32CD161F-97BF-4DC4-BE34-3F26E561551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0ef793034258476e" Type="http://schemas.openxmlformats.org/officeDocument/2006/relationships/slide" Target="slides/slide19.xml"/><Relationship Id="R21c51553c8094ed9" Type="http://schemas.openxmlformats.org/officeDocument/2006/relationships/slide" Target="slides/slide12.xml"/><Relationship Id="R57061ae06fec4b85" Type="http://schemas.openxmlformats.org/officeDocument/2006/relationships/slide" Target="slides/slide22.xml"/><Relationship Id="R6177f30543fe4e4c" Type="http://schemas.openxmlformats.org/officeDocument/2006/relationships/notesMaster" Target="notesMasters/notesMaster1.xml"/><Relationship Id="R7bd9b7a6d8d642dd" Type="http://schemas.openxmlformats.org/officeDocument/2006/relationships/slide" Target="slides/slide10.xml"/><Relationship Id="R827c69c984424c32" Type="http://schemas.openxmlformats.org/officeDocument/2006/relationships/theme" Target="theme/theme1.xml"/><Relationship Id="R8ab2106111fe4777" Type="http://schemas.openxmlformats.org/officeDocument/2006/relationships/slideMaster" Target="slideMasters/slideMaster1.xml"/><Relationship Id="R904e0ddfd11c472e" Type="http://schemas.openxmlformats.org/officeDocument/2006/relationships/slide" Target="slides/slide2.xml"/><Relationship Id="R908fd5e3f4644ca8" Type="http://schemas.openxmlformats.org/officeDocument/2006/relationships/presProps" Target="presProps.xml"/><Relationship Id="R98a460e018584ae8" Type="http://schemas.openxmlformats.org/officeDocument/2006/relationships/slide" Target="slides/slide4.xml"/><Relationship Id="R9b1807ca26d74c74" Type="http://schemas.openxmlformats.org/officeDocument/2006/relationships/slide" Target="slides/slide6.xml"/><Relationship Id="R9bf16f79cd4c4353" Type="http://schemas.openxmlformats.org/officeDocument/2006/relationships/slide" Target="slides/slide13.xml"/><Relationship Id="Ra11d40e9c05a49bd" Type="http://schemas.openxmlformats.org/officeDocument/2006/relationships/slide" Target="slides/slide16.xml"/><Relationship Id="Ra901cedf27a64a2b" Type="http://schemas.openxmlformats.org/officeDocument/2006/relationships/slide" Target="slides/slide3.xml"/><Relationship Id="Rb2fe7432bd1c4e5b" Type="http://schemas.openxmlformats.org/officeDocument/2006/relationships/slide" Target="slides/slide17.xml"/><Relationship Id="Rb50ff5d2d85c4fb5" Type="http://schemas.openxmlformats.org/officeDocument/2006/relationships/slide" Target="slides/slide11.xml"/><Relationship Id="Rbc04d9597ff64c49" Type="http://schemas.openxmlformats.org/officeDocument/2006/relationships/slide" Target="slides/slide1.xml"/><Relationship Id="Rc21e83a824f84337" Type="http://schemas.openxmlformats.org/officeDocument/2006/relationships/slide" Target="slides/slide20.xml"/><Relationship Id="Rd8bdb06a15da4230" Type="http://schemas.openxmlformats.org/officeDocument/2006/relationships/font" Target="fonts/font.dat"/><Relationship Id="Re144bf0a17154815" Type="http://schemas.openxmlformats.org/officeDocument/2006/relationships/slide" Target="slides/slide21.xml"/><Relationship Id="Re727a72e0ef848f1" Type="http://schemas.openxmlformats.org/officeDocument/2006/relationships/slide" Target="slides/slide9.xml"/><Relationship Id="Re8b194ca15f24f17" Type="http://schemas.openxmlformats.org/officeDocument/2006/relationships/slide" Target="slides/slide15.xml"/><Relationship Id="Rea66513c36ed434b" Type="http://schemas.openxmlformats.org/officeDocument/2006/relationships/slide" Target="slides/slide5.xml"/><Relationship Id="Ref9f89a3cf4640fe" Type="http://schemas.openxmlformats.org/officeDocument/2006/relationships/slide" Target="slides/slide7.xml"/><Relationship Id="Rf7c1bc95cc8a47a8" Type="http://schemas.openxmlformats.org/officeDocument/2006/relationships/slide" Target="slides/slide18.xml"/><Relationship Id="Rf93904de02c04875" Type="http://schemas.openxmlformats.org/officeDocument/2006/relationships/tableStyles" Target="tableStyles.xml"/><Relationship Id="rId27" Type="http://schemas.openxmlformats.org/officeDocument/2006/relationships/slide" Target="slides/slide8.xml"/><Relationship Id="rId28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cea911636f3a42a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89eb28b7cf8e4624" Type="http://schemas.openxmlformats.org/officeDocument/2006/relationships/slide" Target="../slides/slide1.xml"/><Relationship Id="R990711e6be4c4db7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24a29a6a006d4006" Type="http://schemas.openxmlformats.org/officeDocument/2006/relationships/notesMaster" Target="../notesMasters/notesMaster1.xml"/><Relationship Id="Rc06197185d9b4f09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0633cdd99a494496" Type="http://schemas.openxmlformats.org/officeDocument/2006/relationships/notesMaster" Target="../notesMasters/notesMaster1.xml"/><Relationship Id="Reb729cfe91cc4cbe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7b01049b62654837" Type="http://schemas.openxmlformats.org/officeDocument/2006/relationships/notesMaster" Target="../notesMasters/notesMaster1.xml"/><Relationship Id="Rcc069bc9ac0d409d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ad37f343dd347ac" Type="http://schemas.openxmlformats.org/officeDocument/2006/relationships/notesMaster" Target="../notesMasters/notesMaster1.xml"/><Relationship Id="Rd258a8be347845f4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61a341cc0ee4dbf" Type="http://schemas.openxmlformats.org/officeDocument/2006/relationships/notesMaster" Target="../notesMasters/notesMaster1.xml"/><Relationship Id="R3f14ef32e3a3401a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51a5dc801aee4ab5" Type="http://schemas.openxmlformats.org/officeDocument/2006/relationships/slide" Target="../slides/slide7.xml"/><Relationship Id="Re9ea471b30f340fd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0eff8ded03f147f0" Type="http://schemas.openxmlformats.org/officeDocument/2006/relationships/slide" Target="../slides/slide9.xml"/><Relationship Id="R2179da2d1f354aeb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a2c43305ebe14ba0" Type="http://schemas.openxmlformats.org/officeDocument/2006/relationships/slide" Target="../slides/slide10.xml"/><Relationship Id="Rc73067b5a6984629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46b5a639bd86489d" Type="http://schemas.openxmlformats.org/officeDocument/2006/relationships/notesMaster" Target="../notesMasters/notesMaster1.xml"/><Relationship Id="R8b05fc61238244b9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2bebcf0dd2f74ef5" Type="http://schemas.openxmlformats.org/officeDocument/2006/relationships/slide" Target="../slides/slide12.xml"/><Relationship Id="Rc26d6e6efceb4b5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662cef1c50fa485d" Type="http://schemas.openxmlformats.org/officeDocument/2006/relationships/notesMaster" Target="../notesMasters/notesMaster1.xml"/><Relationship Id="Rc6106a24bf11404f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784eec206a774e41" Type="http://schemas.openxmlformats.org/officeDocument/2006/relationships/slide" Target="../slides/slide15.xml"/><Relationship Id="Rf00fbb688b724746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41d5916453b94351" Type="http://schemas.openxmlformats.org/officeDocument/2006/relationships/notesMaster" Target="../notesMasters/notesMaster1.xml"/><Relationship Id="R820dae549a3c4e7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10b26668200a44d5" Type="http://schemas.openxmlformats.org/officeDocument/2006/relationships/notesMaster" Target="../notesMasters/notesMaster1.xml"/><Relationship Id="R8f35ca3d0c284223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7632b9b76c3d45df" Type="http://schemas.openxmlformats.org/officeDocument/2006/relationships/slide" Target="../slides/slide18.xml"/><Relationship Id="Ra08a358867c8437c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9c0220af0ef64418" Type="http://schemas.openxmlformats.org/officeDocument/2006/relationships/notesMaster" Target="../notesMasters/notesMaster1.xml"/><Relationship Id="Rc42d8f85392a49cd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4f338f8f417043cd" Type="http://schemas.openxmlformats.org/officeDocument/2006/relationships/notesMaster" Target="../notesMasters/notesMaster1.xml"/><Relationship Id="Rb678b5673e4a474b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1fafbe1899c34e95" Type="http://schemas.openxmlformats.org/officeDocument/2006/relationships/slide" Target="../slides/slide21.xml"/><Relationship Id="R6a7f4bbcc7084b45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0741aa3d74434773" Type="http://schemas.openxmlformats.org/officeDocument/2006/relationships/slide" Target="../slides/slide22.xml"/><Relationship Id="R26079e53ffd54e25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이 발표는 최고 연평균 수익률을 찾는 것이 아니라, 좋아 보이는 과거 성과가 어떻게 실제 운용 규칙으로 살아남는지 보여주는 연구 여정이다.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한국 전략을 본문에 두고 미국 무료 전략은 검증 부록으로 다룬다.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템플릿D_포트폴리오점검.pptx; docs/CODEX-STRATEGY-METHODOLOGY-PERFORMANCE.md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결론은 최근 1년 최고가에 가까운 종목, 코스피 200일 이동평균선을 이용한 손실 방어, 그리고 데이터 정직성 세 가지다.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연평균 16.41%는 강한 증거지만 연간 매매 규모가 원금의 약 6.6배이고 50개 넘는 설정을 시험했으므로 확정된 초과수익이라고 단정하지 않는다.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docs/CODEX-STRATEGY-METHODOLOGY-PERFORMANCE.md ‘결론 먼저’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240개 산출물을 파일 목록이 아니라 다섯 연구 질문으로 압축했다.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독립 수익률을 만들지 않는 포트폴리오·공시 진단은 운용 질문에 포함했다.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docs/CODEX-STRATEGY-METHODOLOGY-PERFORMANCE.md ‘이 문서가 다루는 것’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숫자 순위보다 데이터 등급이 먼저다. 같은 연평균 수익률이라도 A등급과 C등급은 신뢰도가 다르다.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A등급도 거래소 공식 원장과 완전히 같은 것은 아니며 중간배당·유상증자·합병대가가 모두 이중검증된 상태는 아니다.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docs/CODEX-STRATEGY-METHODOLOGY-PERFORMANCE.md ‘성과를 읽는 데이터 등급’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시점일치, 다음 시가, 비용, 공시 지연을 공통 계약으로 묶어야 설정 간 비교가 가능하다.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한국 매도비용 0.43%는 수수료 0.25%와 거래세 0.18%의 합이다. 미국 무료 결과는 매매 한 번에 0.10%를 반영했다.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docs/CODEX-STRATEGY-METHODOLOGY-PERFORMANCE.md ‘공통 체결·비용 원칙’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초기 주가추세·돌파 여섯 전략은 모두 연평균 손실이었다.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현재 상장된 시가총액 상위 300종목만 과거에 소급한 +31.46%는 승자가 아니라 생존자 편향에 따른 과대평가 경보다.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analysis-example/kr-market/strategies/trend-following-10y/backtest-2026-07-10.md; expanded-backtest-2026-07-10.md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기존에 크게 보였던 연평균 21.78%는 데이터 정직성 검사를 통과하지 못했다.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같은 구형 설계를 상장폐지와 배당을 포함해 다시 계산하면 전체 연평균 8.82%, 검증구간 연평균 2.83%다.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analysis-example/kr-market/strategies/annual-top300/total-return-dividend-inclusive-2017-01-02-through-2026-07-16.md; strategy-policy.json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처음 시험한 12가지 종목선정 기준은 모두 통계 검증을 통과하지 못했다는 점이 핵심이다.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0.77은 77% 수익률이 아니라 위험 대비 수익 점수다. 가장 높았던 주당순이익 성장 점수 0.77도 다중검정을 반영한 통과 기준 0.84보다 낮다.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analysis-example/kr-market/strategies/annual-top300/robust-strategy-search-2017-01-02-through-2026-07-16.md/json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같은 운용 구조에서 주가 상승세를 계산하는 방법만 바꾸자 52주 최고가 근접 방식이 앞섰다.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위험 대비 수익 점수 0.90이 통과 기준 0.87을 넘었지만 실제 시험 수가 더 많으므로 강한 증거로만 해석한다.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analysis-example/kr-market/strategies/annual-top300/live-52w-high-momentum-2026-07-16.md; strategy-policy.json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최종 규칙은 단순하다. 복잡성은 점수식보다 투자대상과 주문시점 규칙에 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기존 보유 종목은 순위가 45위 밖으로 밀릴 때만 교체해 불필요한 매매를 줄인다.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live-52w-high-momentum-2026-07-16.md/json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52주 전략은 연평균 수익률, 위험 대비 수익 점수, 최대 낙폭, 검증구간 수익률, 통계 검증을 함께 만족한 유일한 종목선정 결과다.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A등급끼리 비교한 표이며 연간 매매 규모가 원금의 약 6.6배라는 점은 실제 운용에서 수익을 낮출 수 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docs/CODEX-STRATEGY-METHODOLOGY-PERFORMANCE.md ‘한국 전략: 현재 의사결정에 쓸 표’ 및 각 JSON 원장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좋은 해만 보여주지 않는다. 2024년 -13%와 원장 공백도 함께 공개한다.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막대의 72%는 0.72라는 점수가 아니라 2020년 한 해 수익률 +72%다. 52주 값은 보존된 원문 반올림값이며 2018·2019·2022는 추정하지 않았다. 기본 혼합전략 연도 원장: 21.35, -4.32, 2.97, 71.33, -0.91, 0, -20.90, 3.74, 38.81, 25.23%. 이익성장 전략: 34.02, -6.64, 2.95, 47.53, 8.48, 0, -12.28, 1.03, 46.96, 3.30%. 2026은 연초 이후 값이다.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live-52w-high-momentum-2026-07-16.md; annual-top300-R1-total-return-...json; annual-top300-return-seeking-eps-...json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시가총액 상위 500종목은 검증구간 수익률 추정치가 높았지만 통계 검증과 실제 거래 편의가 나빠졌다.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상위 300종목만 통계 기준을 통과했고 상위 100종목보다 후보가 충분하며 상위 500종목보다 연간 매매 규모가 작다.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analysis-example/kr-market/strategies/annual-top300/universe-size-comparison-52w-high-2017-01-02-through-2026-07-16.md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최대 낙폭을 줄인 것은 코스피 200일 이동평균선 규칙이었다. 변동성 제한은 수익률만 깎았다.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변동성 제한을 약하게 할수록 연평균 수익률이 계속 높아져 최종 기본전략에서는 제거했다.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overlay-ablation-sensitivity-marcap-split-2017-01-02-through-2026-07-16.md; lowrisk-regime-design-2017-01-02-through-2026-07-16.md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대안은 성과 순위가 아니라 목적별 선택지다.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주가상승과 이익성장을 섞은 기본전략은 비교 기준선, 이익성장 중심은 적극적 선택, 시장 전체에 200일선을 적용한 전략은 자본보존용이다.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docs/CODEX-STRATEGY-METHODOLOGY-PERFORMANCE.md ‘Codex 판정’; supporting JSONs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전체 전략군을 채택·보조·기각·추가검증·비교금지로 분류한다.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C등급의 연평균 30~40% 결과는 아이디어 발굴에는 쓰지만 A등급 결과와 직접 순위를 매기지 않는다.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docs/CODEX-STRATEGY-METHODOLOGY-PERFORMANCE.md 전체 한국 전략 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백테스트 규칙은 월 1회 재선정, 코스피 200일선 확인, 다음 날 시가 주문으로 번역된다.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라이브는 모델 신호와 자동화 현황이며 실계좌 체결 성과가 아니다.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live-52w-high-momentum-2026-07-16.md; HANDOFF-52w-high.md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더존비즈온 사례는 가격 숫자가 존재하는 것과 실제 거래 가능성이 다름을 보여준다.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신호일의 시가·고가·저가·종가와 거래량이 모두 0보다 큰 종목만 허용하도록 수정했고 자동 계산 뒤 실제 주문은 수동이다.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HANDOFF-52w-high.md, 2026-07-19 정정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미국 무료 시가총액 상위 500종목 결과는 미국 대형주 지수인 S&amp;P500보다 검증된 초과수익을 만들지 못했다.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검증구간은 약 2년이며 미국 학술용 주가·재무 데이터로 시점일치를 확인한 결과는 아직 없다.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analysis-example/us-market/strategies/us-minervini-annual-variant-comparison/weekly-annual-variant-comparison-2025-12-31.md/json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현재는 52주 최고가 근접 전략을 후보로 채택하되 코스피 200일선 방어를 공통 적용하고 공식 데이터 검증을 이어간다.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실제 운용의 기대수익은 표시된 연평균 16.41%보다 낮은 10%대 초반으로 잡는 편이 정직하다.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docs/CODEX-STRATEGY-METHODOLOGY-PERFORMANCE.md ‘Codex 판정’; HANDOFF-52w-high.md TODO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fb1b975d48e46f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a1dc7d30f5764e1a" Type="http://schemas.openxmlformats.org/officeDocument/2006/relationships/theme" Target="theme/theme2.xml"/><Relationship Id="Reae9059756ce469e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e9059756ce469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7eb72ae2ea840c4" Type="http://schemas.openxmlformats.org/officeDocument/2006/relationships/slideLayout" Target="../slideLayouts/slideLayout1.xml"/><Relationship Id="Raa9babfe28ec413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23f89080e501451f" Type="http://schemas.openxmlformats.org/officeDocument/2006/relationships/slideLayout" Target="../slideLayouts/slideLayout1.xml"/><Relationship Id="R7691a04f53e2406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6fb54527ffb4d80" Type="http://schemas.openxmlformats.org/officeDocument/2006/relationships/notesSlide" Target="../notesSlides/notesSlide3.xml"/><Relationship Id="Refdd73000c054425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62816cef787d40a6" Type="http://schemas.openxmlformats.org/officeDocument/2006/relationships/slideLayout" Target="../slideLayouts/slideLayout1.xml"/><Relationship Id="R74b6bab110e7446d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811f57459ed6440a" Type="http://schemas.openxmlformats.org/officeDocument/2006/relationships/notesSlide" Target="../notesSlides/notesSlide5.xml"/><Relationship Id="Rf1f75e7dbe524e7d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0b229b0c320d46b4" Type="http://schemas.openxmlformats.org/officeDocument/2006/relationships/chart" Target="charts/chart1.xml"/><Relationship Id="R8e9a7fa3b9d446d6" Type="http://schemas.openxmlformats.org/officeDocument/2006/relationships/slideLayout" Target="../slideLayouts/slideLayout1.xml"/><Relationship Id="Rfe9eb2a273d142aa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7daf2899049744a3" Type="http://schemas.openxmlformats.org/officeDocument/2006/relationships/slideLayout" Target="../slideLayouts/slideLayout1.xml"/><Relationship Id="Rae87b93dc200432d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052ae691e8654a4c" Type="http://schemas.openxmlformats.org/officeDocument/2006/relationships/chart" Target="charts/chart2.xml"/><Relationship Id="R0a16d581592b42a9" Type="http://schemas.openxmlformats.org/officeDocument/2006/relationships/slideLayout" Target="../slideLayouts/slideLayout1.xml"/><Relationship Id="Ra814ac1b7c464f79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959110a438264057" Type="http://schemas.openxmlformats.org/officeDocument/2006/relationships/notesSlide" Target="../notesSlides/notesSlide9.xml"/><Relationship Id="R98282c69fdc3485d" Type="http://schemas.openxmlformats.org/officeDocument/2006/relationships/chart" Target="charts/chart3.xml"/><Relationship Id="R9acfe67542dd464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09a11b4147c241d5" Type="http://schemas.openxmlformats.org/officeDocument/2006/relationships/notesSlide" Target="../notesSlides/notesSlide10.xml"/><Relationship Id="Rcd63aec563b14cc4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820ec2e6b7d44333" Type="http://schemas.openxmlformats.org/officeDocument/2006/relationships/notesSlide" Target="../notesSlides/notesSlide11.xml"/><Relationship Id="Rc0dfa5c9aae64bb0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0dd47a560a7d4b53" Type="http://schemas.openxmlformats.org/officeDocument/2006/relationships/notesSlide" Target="../notesSlides/notesSlide12.xml"/><Relationship Id="R5fa797be2d834ef0" Type="http://schemas.openxmlformats.org/officeDocument/2006/relationships/slideLayout" Target="../slideLayouts/slideLayout1.xml"/><Relationship Id="Rb5c71eba80284879" Type="http://schemas.openxmlformats.org/officeDocument/2006/relationships/chart" Target="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b6754cc03adc4785" Type="http://schemas.openxmlformats.org/officeDocument/2006/relationships/slideLayout" Target="../slideLayouts/slideLayout1.xml"/><Relationship Id="Re51890076f544d5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4ceb8d9f28f6431a" Type="http://schemas.openxmlformats.org/officeDocument/2006/relationships/slideLayout" Target="../slideLayouts/slideLayout1.xml"/><Relationship Id="R9db4cc5b6a4f4d19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1936d2dfccf1496e" Type="http://schemas.openxmlformats.org/officeDocument/2006/relationships/notesSlide" Target="../notesSlides/notesSlide15.xml"/><Relationship Id="R30164e0ff15e47dc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0cc2ba7e6dba46fe" Type="http://schemas.openxmlformats.org/officeDocument/2006/relationships/notesSlide" Target="../notesSlides/notesSlide16.xml"/><Relationship Id="Rf998f5d3dd064045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424481157cf748f6" Type="http://schemas.openxmlformats.org/officeDocument/2006/relationships/notesSlide" Target="../notesSlides/notesSlide17.xml"/><Relationship Id="Rb494749b7ded4309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943bc87d7d44478b" Type="http://schemas.openxmlformats.org/officeDocument/2006/relationships/slideLayout" Target="../slideLayouts/slideLayout1.xml"/><Relationship Id="Rac418905c29147f6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36497819ffbb482f" Type="http://schemas.openxmlformats.org/officeDocument/2006/relationships/slideLayout" Target="../slideLayouts/slideLayout1.xml"/><Relationship Id="R8efb9f14ce5d4250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82b915bd820946ab" Type="http://schemas.openxmlformats.org/officeDocument/2006/relationships/notesSlide" Target="../notesSlides/notesSlide20.xml"/><Relationship Id="Rba080b9f07064c25" Type="http://schemas.openxmlformats.org/officeDocument/2006/relationships/slideLayout" Target="../slideLayouts/slideLayout1.xml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연평균 손실률의 크기</c:v>
          </c:tx>
          <c:spPr>
            <a:solidFill xmlns:a="http://schemas.openxmlformats.org/drawingml/2006/main">
              <a:srgbClr val="E74C3C"/>
            </a:solidFill>
          </c:spPr>
          <c:dPt>
            <c:idx val="0"/>
            <c:spPr>
              <a:solidFill xmlns:a="http://schemas.openxmlformats.org/drawingml/2006/main">
                <a:srgbClr val="E74C3C"/>
              </a:solidFill>
            </c:spPr>
          </c:dPt>
          <c:dPt>
            <c:idx val="1"/>
            <c:spPr>
              <a:solidFill xmlns:a="http://schemas.openxmlformats.org/drawingml/2006/main">
                <a:srgbClr val="E74C3C"/>
              </a:solidFill>
            </c:spPr>
          </c:dPt>
          <c:dPt>
            <c:idx val="2"/>
            <c:spPr>
              <a:solidFill xmlns:a="http://schemas.openxmlformats.org/drawingml/2006/main">
                <a:srgbClr val="E74C3C"/>
              </a:solidFill>
            </c:spPr>
          </c:dPt>
          <c:dPt>
            <c:idx val="3"/>
            <c:spPr>
              <a:solidFill xmlns:a="http://schemas.openxmlformats.org/drawingml/2006/main">
                <a:srgbClr val="E74C3C"/>
              </a:solidFill>
            </c:spPr>
          </c:dPt>
          <c:dPt>
            <c:idx val="4"/>
            <c:spPr>
              <a:solidFill xmlns:a="http://schemas.openxmlformats.org/drawingml/2006/main">
                <a:srgbClr val="E74C3C"/>
              </a:solidFill>
            </c:spPr>
          </c:dPt>
          <c:dPt>
            <c:idx val="5"/>
            <c:spPr>
              <a:solidFill xmlns:a="http://schemas.openxmlformats.org/drawingml/2006/main">
                <a:srgbClr val="F39C12"/>
              </a:solidFill>
            </c:spPr>
          </c:dPt>
          <c:cat>
            <c:strLit>
              <c:ptCount val="6"/>
              <c:pt idx="0">
                <c:v>최근 12개월 수익률  -15.1%</c:v>
              </c:pt>
              <c:pt idx="1">
                <c:v>엄격한 성장주 조건  -20.1%</c:v>
              </c:pt>
              <c:pt idx="2">
                <c:v>55일 돌파·20일 이탈  -13.8%</c:v>
              </c:pt>
              <c:pt idx="3">
                <c:v>10개월 이동평균선  -14.1%</c:v>
              </c:pt>
              <c:pt idx="4">
                <c:v>1년 수익률 양수 종목  -15.0%</c:v>
              </c:pt>
              <c:pt idx="5">
                <c:v>추세가 꺾일 때까지 보유  -1.7%</c:v>
              </c:pt>
            </c:strLit>
          </c:cat>
          <c:val>
            <c:numLit>
              <c:formatCode>General</c:formatCode>
              <c:ptCount val="6"/>
              <c:pt idx="0">
                <c:v>15.08</c:v>
              </c:pt>
              <c:pt idx="1">
                <c:v>20.07</c:v>
              </c:pt>
              <c:pt idx="2">
                <c:v>13.84</c:v>
              </c:pt>
              <c:pt idx="3">
                <c:v>14.05</c:v>
              </c:pt>
              <c:pt idx="4">
                <c:v>14.99</c:v>
              </c:pt>
              <c:pt idx="5">
                <c:v>1.7</c:v>
              </c:pt>
            </c:numLit>
          </c:val>
        </c:ser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F3E4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실제 점수</c:v>
          </c:tx>
          <c:spPr>
            <a:solidFill xmlns:a="http://schemas.openxmlformats.org/drawingml/2006/main">
              <a:srgbClr val="2E75B6"/>
            </a:solidFill>
          </c:spPr>
          <c:dLbls>
            <c:dLbl>
              <c:idx val="10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주당순이익 성장</c:v>
              </c:pt>
              <c:pt idx="1">
                <c:v>자산수익성</c:v>
              </c:pt>
              <c:pt idx="2">
                <c:v>기본 혼합전략</c:v>
              </c:pt>
              <c:pt idx="3">
                <c:v>주가 상승세</c:v>
              </c:pt>
              <c:pt idx="4">
                <c:v>저평가</c:v>
              </c:pt>
              <c:pt idx="5">
                <c:v>저평가+이익성장</c:v>
              </c:pt>
              <c:pt idx="6">
                <c:v>저평가+재무건전</c:v>
              </c:pt>
              <c:pt idx="7">
                <c:v>저평가+재무건전+낮은 변동성</c:v>
              </c:pt>
              <c:pt idx="8">
                <c:v>저평가+낮은 변동성</c:v>
              </c:pt>
              <c:pt idx="9">
                <c:v>네 기준 모두</c:v>
              </c:pt>
              <c:pt idx="10">
                <c:v>주가상승+낮은 변동성 (-0.07)</c:v>
              </c:pt>
              <c:pt idx="11">
                <c:v>낮은 변동성 (-0.10)</c:v>
              </c:pt>
            </c:strLit>
          </c:cat>
          <c:val>
            <c:numLit>
              <c:formatCode>0.00"점"</c:formatCode>
              <c:ptCount val="12"/>
              <c:pt idx="0">
                <c:v>0.77</c:v>
              </c:pt>
              <c:pt idx="1">
                <c:v>0.58</c:v>
              </c:pt>
              <c:pt idx="2">
                <c:v>0.57</c:v>
              </c:pt>
              <c:pt idx="3">
                <c:v>0.49</c:v>
              </c:pt>
              <c:pt idx="4">
                <c:v>0.48</c:v>
              </c:pt>
              <c:pt idx="5">
                <c:v>0.39</c:v>
              </c:pt>
              <c:pt idx="6">
                <c:v>0.29</c:v>
              </c:pt>
              <c:pt idx="7">
                <c:v>0.19</c:v>
              </c:pt>
              <c:pt idx="8">
                <c:v>0.18</c:v>
              </c:pt>
              <c:pt idx="9">
                <c:v>0.15</c:v>
              </c:pt>
              <c:pt idx="10">
                <c:v>0</c:v>
              </c:pt>
              <c:pt idx="11">
                <c:v>0</c:v>
              </c:pt>
            </c:numLit>
          </c:val>
        </c:ser>
        <c:ser>
          <c:idx val="1"/>
          <c:order val="1"/>
          <c:tx>
            <c:v>통과 기준</c:v>
          </c:tx>
          <c:spPr>
            <a:solidFill xmlns:a="http://schemas.openxmlformats.org/drawingml/2006/main">
              <a:srgbClr val="C8D0D8"/>
            </a:solidFill>
          </c:spPr>
          <c:cat>
            <c:strLit>
              <c:ptCount val="12"/>
              <c:pt idx="0">
                <c:v>주당순이익 성장</c:v>
              </c:pt>
              <c:pt idx="1">
                <c:v>자산수익성</c:v>
              </c:pt>
              <c:pt idx="2">
                <c:v>기본 혼합전략</c:v>
              </c:pt>
              <c:pt idx="3">
                <c:v>주가 상승세</c:v>
              </c:pt>
              <c:pt idx="4">
                <c:v>저평가</c:v>
              </c:pt>
              <c:pt idx="5">
                <c:v>저평가+이익성장</c:v>
              </c:pt>
              <c:pt idx="6">
                <c:v>저평가+재무건전</c:v>
              </c:pt>
              <c:pt idx="7">
                <c:v>저평가+재무건전+낮은 변동성</c:v>
              </c:pt>
              <c:pt idx="8">
                <c:v>저평가+낮은 변동성</c:v>
              </c:pt>
              <c:pt idx="9">
                <c:v>네 기준 모두</c:v>
              </c:pt>
              <c:pt idx="10">
                <c:v>주가상승+낮은 변동성 (-0.07)</c:v>
              </c:pt>
              <c:pt idx="11">
                <c:v>낮은 변동성 (-0.10)</c:v>
              </c:pt>
            </c:strLit>
          </c:cat>
          <c:val>
            <c:numLit>
              <c:formatCode>0.00"점"</c:formatCode>
              <c:ptCount val="12"/>
              <c:pt idx="0">
                <c:v>0.84</c:v>
              </c:pt>
              <c:pt idx="1">
                <c:v>0.8</c:v>
              </c:pt>
              <c:pt idx="2">
                <c:v>0.79</c:v>
              </c:pt>
              <c:pt idx="3">
                <c:v>0.78</c:v>
              </c:pt>
              <c:pt idx="4">
                <c:v>0.78</c:v>
              </c:pt>
              <c:pt idx="5">
                <c:v>0.76</c:v>
              </c:pt>
              <c:pt idx="6">
                <c:v>0.75</c:v>
              </c:pt>
              <c:pt idx="7">
                <c:v>0.74</c:v>
              </c:pt>
              <c:pt idx="8">
                <c:v>0.74</c:v>
              </c:pt>
              <c:pt idx="9">
                <c:v>0.74</c:v>
              </c:pt>
              <c:pt idx="10">
                <c:v>0.74</c:v>
              </c:pt>
              <c:pt idx="11">
                <c:v>0.74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38">
                  <a:solidFill>
                    <a:srgbClr val="2F3E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"/>
        <c:majorTickMark val="none"/>
        <c:minorTickMark val="none"/>
        <c:tickLblPos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2F3E4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>
              <a:solidFill>
                <a:srgbClr val="2F3E4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연평균 복리수익률</c:v>
          </c:tx>
          <c:spPr>
            <a:solidFill xmlns:a="http://schemas.openxmlformats.org/drawingml/2006/main">
              <a:srgbClr val="2E75B6"/>
            </a:solidFill>
          </c:spPr>
          <c:dPt>
            <c:idx val="3"/>
            <c:spPr>
              <a:solidFill xmlns:a="http://schemas.openxmlformats.org/drawingml/2006/main">
                <a:srgbClr val="F39C12"/>
              </a:solidFill>
            </c:spPr>
          </c:dPt>
          <c:cat>
            <c:strLit>
              <c:ptCount val="4"/>
              <c:pt idx="0">
                <c:v>3·6·12개월 수익률</c:v>
              </c:pt>
              <c:pt idx="1">
                <c:v>최근 1개월 제외</c:v>
              </c:pt>
              <c:pt idx="2">
                <c:v>변동성 보정</c:v>
              </c:pt>
              <c:pt idx="3">
                <c:v>52주 최고가 근접</c:v>
              </c:pt>
            </c:strLit>
          </c:cat>
          <c:val>
            <c:numLit>
              <c:formatCode>0.0%</c:formatCode>
              <c:ptCount val="4"/>
              <c:pt idx="0">
                <c:v>0.099</c:v>
              </c:pt>
              <c:pt idx="1">
                <c:v>0.035</c:v>
              </c:pt>
              <c:pt idx="2">
                <c:v>0.061</c:v>
              </c:pt>
              <c:pt idx="3">
                <c:v>0.1641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2F3E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F3E4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4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F8C8D"/>
                </a:solidFill>
              </a:defRPr>
            </a:pPr>
          </a:p>
        </c:txPr>
        <c:crossAx val="48650112"/>
        <c:crossBetween val="between"/>
        <c:majorUnit val="0.0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52주 신고가 (원문 보존값)</c:v>
          </c:tx>
          <c:spPr>
            <a:solidFill xmlns:a="http://schemas.openxmlformats.org/drawingml/2006/main">
              <a:srgbClr val="F39C12"/>
            </a:solidFill>
          </c:spPr>
          <c:invertIfNegative val="0"/>
          <c:dPt>
            <c:idx val="0"/>
            <c:spPr>
              <a:solidFill xmlns:a="http://schemas.openxmlformats.org/drawingml/2006/main">
                <a:srgbClr val="2E75B6"/>
              </a:solidFill>
            </c:spPr>
          </c:dPt>
          <c:dPt>
            <c:idx val="1"/>
            <c:spPr>
              <a:solidFill xmlns:a="http://schemas.openxmlformats.org/drawingml/2006/main">
                <a:srgbClr val="F39C12"/>
              </a:solidFill>
            </c:spPr>
          </c:dPt>
          <c:dPt>
            <c:idx val="2"/>
            <c:spPr>
              <a:solidFill xmlns:a="http://schemas.openxmlformats.org/drawingml/2006/main">
                <a:srgbClr val="2E75B6"/>
              </a:solidFill>
            </c:spPr>
          </c:dPt>
          <c:dPt>
            <c:idx val="3"/>
            <c:spPr>
              <a:solidFill xmlns:a="http://schemas.openxmlformats.org/drawingml/2006/main">
                <a:srgbClr val="2E75B6"/>
              </a:solidFill>
            </c:spPr>
          </c:dPt>
          <c:dPt>
            <c:idx val="4"/>
            <c:spPr>
              <a:solidFill xmlns:a="http://schemas.openxmlformats.org/drawingml/2006/main">
                <a:srgbClr val="E74C3C"/>
              </a:solidFill>
            </c:spPr>
          </c:dPt>
          <c:dPt>
            <c:idx val="5"/>
            <c:spPr>
              <a:solidFill xmlns:a="http://schemas.openxmlformats.org/drawingml/2006/main">
                <a:srgbClr val="2E75B6"/>
              </a:solidFill>
            </c:spPr>
          </c:dPt>
          <c:dPt>
            <c:idx val="6"/>
            <c:spPr>
              <a:solidFill xmlns:a="http://schemas.openxmlformats.org/drawingml/2006/main">
                <a:srgbClr val="F39C12"/>
              </a:solidFill>
            </c:spPr>
          </c:dPt>
          <c:cat>
            <c:strLit>
              <c:ptCount val="7"/>
              <c:pt idx="0">
                <c:v>2017</c:v>
              </c:pt>
              <c:pt idx="1">
                <c:v>2020</c:v>
              </c:pt>
              <c:pt idx="2">
                <c:v>2021</c:v>
              </c:pt>
              <c:pt idx="3">
                <c:v>2023</c:v>
              </c:pt>
              <c:pt idx="4">
                <c:v>2024</c:v>
              </c:pt>
              <c:pt idx="5">
                <c:v>2025</c:v>
              </c:pt>
              <c:pt idx="6">
                <c:v>2026
연초 이후</c:v>
              </c:pt>
            </c:strLit>
          </c:cat>
          <c:val>
            <c:numLit>
              <c:formatCode>0%</c:formatCode>
              <c:ptCount val="7"/>
              <c:pt idx="0">
                <c:v>0.2</c:v>
              </c:pt>
              <c:pt idx="1">
                <c:v>0.72</c:v>
              </c:pt>
              <c:pt idx="2">
                <c:v>0.33</c:v>
              </c:pt>
              <c:pt idx="3">
                <c:v>0.19</c:v>
              </c:pt>
              <c:pt idx="4">
                <c:v>-0.13</c:v>
              </c:pt>
              <c:pt idx="5">
                <c:v>0.26</c:v>
              </c:pt>
              <c:pt idx="6">
                <c:v>0.18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63" b="1">
                  <a:solidFill>
                    <a:srgbClr val="2F3E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F3E4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8"/>
          <c:min val="-0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4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7F8C8D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3A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F55217D6-83CB-4B4D-98D5-BF51F2FD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C1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BD0A44FA-B02D-43FE-BB8F-7235C066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7680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00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좋아 보이는 백테스트에서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400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운용 가능한 전략까지</a:t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B10D6799-71F2-4A63-B080-410C8D33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86000"/>
            <a:ext cx="76809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D5E8F0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D5E8F0"/>
                </a:solidFill>
                <a:latin typeface="Calibri"/>
                <a:ea typeface="Calibri"/>
                <a:cs typeface="Calibri"/>
              </a:rPr>
              <a:t>한국 전략 중심 · 미국 전략은 검증이 덜 된 참고자료</a:t>
            </a:r>
          </a:p>
        </p:txBody>
      </p:sp>
      <p:cxnSp>
        <p:nvCxnSpPr>
          <p:cNvPr id="29" name="Google Shape;19;p3"/>
          <p:cNvCxnSpPr/>
          <p:nvPr/>
        </p:nvCxnSpPr>
        <p:spPr>
          <a:xfrm xmlns:a="http://schemas.openxmlformats.org/drawingml/2006/main">
            <a:off x="731520" y="3017520"/>
            <a:ext cx="1828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069AA780-9C9E-4158-A0BC-A779B11C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91840"/>
            <a:ext cx="768096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00">
                <a:solidFill>
                  <a:srgbClr val="9FB3C5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9FB3C5"/>
                </a:solidFill>
                <a:latin typeface="Calibri"/>
                <a:ea typeface="Calibri"/>
                <a:cs typeface="Calibri"/>
              </a:rPr>
              <a:t>투자 스터디 · 2026-07-19    |    한국 본문 · 미국 참고자료</a:t>
            </a:r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98FF13BF-E2BC-475D-A05A-BA2419F1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46320"/>
            <a:ext cx="9144000" cy="297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C1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675077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12">
            <a:extLst xmlns:a="http://schemas.openxmlformats.org/drawingml/2006/main">
              <a:ext uri="{FF2B5EF4-FFF2-40B4-BE49-F238E27FC236}">
                <a16:creationId xmlns:a16="http://schemas.microsoft.com/office/drawing/2014/main" id="{5ABF0630-E927-423C-A4CF-04A73D82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117" name="Google Shape;117;p12">
            <a:extLst xmlns:a="http://schemas.openxmlformats.org/drawingml/2006/main">
              <a:ext uri="{FF2B5EF4-FFF2-40B4-BE49-F238E27FC236}">
                <a16:creationId xmlns:a16="http://schemas.microsoft.com/office/drawing/2014/main" id="{F82C91F1-C15C-4538-BBC8-E9D5F5BE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결론은 세 가지다: 52주 최고가·시장 방어·데이터 정직성</a:t>
            </a:r>
          </a:p>
        </p:txBody>
      </p:sp>
      <p:cxnSp>
        <p:nvCxnSpPr>
          <p:cNvPr id="127" name="Google Shape;118;p12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" name="Google Shape;119;p12">
            <a:extLst xmlns:a="http://schemas.openxmlformats.org/drawingml/2006/main">
              <a:ext uri="{FF2B5EF4-FFF2-40B4-BE49-F238E27FC236}">
                <a16:creationId xmlns:a16="http://schemas.microsoft.com/office/drawing/2014/main" id="{BCA99200-9576-435B-B3CD-986FACC1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A등급 · 2026-07-16 · 2</a:t>
            </a:r>
          </a:p>
        </p:txBody>
      </p:sp>
      <p:sp>
        <p:nvSpPr>
          <p:cNvPr id="120" name="Google Shape;120;p12">
            <a:extLst xmlns:a="http://schemas.openxmlformats.org/drawingml/2006/main">
              <a:ext uri="{FF2B5EF4-FFF2-40B4-BE49-F238E27FC236}">
                <a16:creationId xmlns:a16="http://schemas.microsoft.com/office/drawing/2014/main" id="{D18332BA-F2F6-42A2-8CA5-B57F52C6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804672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121" name="Google Shape;121;p12">
            <a:extLst xmlns:a="http://schemas.openxmlformats.org/drawingml/2006/main">
              <a:ext uri="{FF2B5EF4-FFF2-40B4-BE49-F238E27FC236}">
                <a16:creationId xmlns:a16="http://schemas.microsoft.com/office/drawing/2014/main" id="{8329C9FC-CE35-4C90-8EA8-927CBC75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88720"/>
            <a:ext cx="7315200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3"/>
              </a:spcAft>
              <a:defRPr sz="139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1  최근 1년 최고가에 가까운 종목</a:t>
            </a:r>
          </a:p>
          <a:p xmlns:a="http://schemas.openxmlformats.org/drawingml/2006/main">
            <a:pPr algn="l">
              <a:spcAft>
                <a:spcPts val="19"/>
              </a:spcAft>
              <a:defRPr sz="139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9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연평균 복리수익률 16.41%
위험 대비 수익 점수 0.90 · 통계 기준 통과</a:t>
            </a:r>
          </a:p>
          <a:p xmlns:a="http://schemas.openxmlformats.org/drawingml/2006/main">
            <a:pPr algn="l">
              <a:spcBef>
                <a:spcPts val="2"/>
              </a:spcBef>
              <a:spcAft>
                <a:spcPts val="3"/>
              </a:spcAft>
              <a:defRPr sz="139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2  지수가 200일 평균선 아래면 현금</a:t>
            </a:r>
          </a:p>
          <a:p xmlns:a="http://schemas.openxmlformats.org/drawingml/2006/main">
            <a:pPr algn="l">
              <a:spcAft>
                <a:spcPts val="19"/>
              </a:spcAft>
              <a:defRPr sz="139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9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시장 최대 낙폭 -52.82% → -26.96%
가장 반복 가능한 손실 방어 규칙</a:t>
            </a:r>
          </a:p>
          <a:p xmlns:a="http://schemas.openxmlformats.org/drawingml/2006/main">
            <a:pPr algn="l">
              <a:spcBef>
                <a:spcPts val="2"/>
              </a:spcBef>
              <a:spcAft>
                <a:spcPts val="3"/>
              </a:spcAft>
              <a:defRPr sz="139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3  데이터 정직성</a:t>
            </a:r>
          </a:p>
          <a:p xmlns:a="http://schemas.openxmlformats.org/drawingml/2006/main">
            <a:pPr algn="l">
              <a:spcAft>
                <a:spcPts val="0"/>
              </a:spcAft>
              <a:defRPr sz="139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9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구형 21.78% → 정직 재계산 8.82% (구형 전략 기준)
채택한 52주 전략은 같은 정직 데이터로 16.41%</a:t>
            </a:r>
          </a:p>
        </p:txBody>
      </p:sp>
    </p:spTree>
    <p:extLst>
      <p:ext uri="{BB962C8B-B14F-4D97-AF65-F5344CB8AC3E}">
        <p14:creationId xmlns:p14="http://schemas.microsoft.com/office/powerpoint/2010/main" val="15210289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F9183C7E-791A-4586-A04D-8AF85AF2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DE55F523-B84D-488F-BEBC-D79C83A6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240개 산출물은 다섯 질문으로 압축된다</a:t>
            </a:r>
          </a:p>
        </p:txBody>
      </p:sp>
      <p:cxnSp>
        <p:nvCxnSpPr>
          <p:cNvPr id="62" name="Google Shape;53;p6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DD1DA8A4-C146-46B6-A3F7-157D0755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혼합등급 · 2026-07-19 · 3</a:t>
            </a:r>
          </a:p>
        </p:txBody>
      </p:sp>
      <p:graphicFrame>
        <p:nvGraphicFramePr>
          <p:cNvPr id="64" name="Google Shape;55;p6"/>
          <p:cNvGraphicFramePr/>
          <p:nvPr/>
        </p:nvGraphicFramePr>
        <p:xfrm>
          <a:off xmlns:a="http://schemas.openxmlformats.org/drawingml/2006/main" x="365760" y="100584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{32CD161F-97BF-4DC4-BE34-3F26E5615511}</a:tableStyleId>
              </a:tblPr>
              <a:tblGrid>
                <a:gridCol w="1645925"/>
                <a:gridCol w="2560325"/>
                <a:gridCol w="2560325"/>
                <a:gridCol w="1645925"/>
              </a:tblGrid>
              <a:tr h="27622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04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연구 질문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04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핵심 비교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04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현재 답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04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등급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데이터가 정직한가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A~D등급 · 시점 일치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A등급 중심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A~D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무엇이 살아남는가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초기 → 12가지 기준 → 52주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52주 최고가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A·C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어떤 방어가 재현되는가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방어 없음 · 200일선 · 변동성 제한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200일선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어떻게 운용하는가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월 1회 · 보유 완충 · 다음 날 시가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자동 계산·수동 주문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모델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미국에서도 통하는가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무료 상위500 · 미국지수 · 공식자료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아직 미검증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B·D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2369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F9183C7E-791A-4586-A04D-8AF85AF2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DE55F523-B84D-488F-BEBC-D79C83A6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수익률보다 먼저 데이터 등급과 숫자 읽는 법을 맞춘다</a:t>
            </a:r>
          </a:p>
        </p:txBody>
      </p:sp>
      <p:cxnSp>
        <p:nvCxnSpPr>
          <p:cNvPr id="62" name="Google Shape;53;p6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DD1DA8A4-C146-46B6-A3F7-157D0755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참고 · 데이터 A~D등급 · 2026-07-19 · 4</a:t>
            </a:r>
          </a:p>
        </p:txBody>
      </p:sp>
      <p:graphicFrame>
        <p:nvGraphicFramePr>
          <p:cNvPr id="64" name="Google Shape;55;p6"/>
          <p:cNvGraphicFramePr/>
          <p:nvPr/>
        </p:nvGraphicFramePr>
        <p:xfrm>
          <a:off xmlns:a="http://schemas.openxmlformats.org/drawingml/2006/main" x="365760" y="100584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{32CD161F-97BF-4DC4-BE34-3F26E5615511}</a:tableStyleId>
              </a:tblPr>
              <a:tblGrid>
                <a:gridCol w="1645925"/>
                <a:gridCol w="2560325"/>
                <a:gridCol w="2560325"/>
                <a:gridCol w="1645925"/>
              </a:tblGrid>
              <a:tr h="27622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00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등급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00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대표 입력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00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허용 용도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00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상태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전년말 종목목록 · 상장폐지 포함 · 배당 포함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한국 대표 결과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현재 사용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연도별 종목목록 · 무료 조정주가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민감도 확인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부분 자료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현재 상장종목을 과거에 소급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아이디어 발굴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순위 금지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D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거래소 공식자료 또는 미국 학술용 자료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최종 확인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아직 결과 없음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숫자 읽기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8D9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연평균 복리수익률 · 최대 낙폭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8D9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위험 대비 수익 점수 · 검증구간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8D9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단위 함께 표시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8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2369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10">
            <a:extLst xmlns:a="http://schemas.openxmlformats.org/drawingml/2006/main">
              <a:ext uri="{FF2B5EF4-FFF2-40B4-BE49-F238E27FC236}">
                <a16:creationId xmlns:a16="http://schemas.microsoft.com/office/drawing/2014/main" id="{580E377C-FC5C-4E24-910B-A83E5D0F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89" name="Google Shape;89;p10">
            <a:extLst xmlns:a="http://schemas.openxmlformats.org/drawingml/2006/main">
              <a:ext uri="{FF2B5EF4-FFF2-40B4-BE49-F238E27FC236}">
                <a16:creationId xmlns:a16="http://schemas.microsoft.com/office/drawing/2014/main" id="{9F8DB90B-6E04-4869-A463-7C5D78EB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모든 전략에 같은 날짜·주문·비용 규칙을 적용했다</a:t>
            </a:r>
          </a:p>
        </p:txBody>
      </p:sp>
      <p:cxnSp>
        <p:nvCxnSpPr>
          <p:cNvPr id="101" name="Google Shape;90;p10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" name="Google Shape;91;p10">
            <a:extLst xmlns:a="http://schemas.openxmlformats.org/drawingml/2006/main">
              <a:ext uri="{FF2B5EF4-FFF2-40B4-BE49-F238E27FC236}">
                <a16:creationId xmlns:a16="http://schemas.microsoft.com/office/drawing/2014/main" id="{4C697FE6-7A66-4FEF-B778-3F1ACABC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방법론 · 데이터 A·B등급 · 2026-07-16 · 5</a:t>
            </a:r>
          </a:p>
        </p:txBody>
      </p:sp>
      <p:sp>
        <p:nvSpPr>
          <p:cNvPr id="92" name="Google Shape;92;p10">
            <a:extLst xmlns:a="http://schemas.openxmlformats.org/drawingml/2006/main">
              <a:ext uri="{FF2B5EF4-FFF2-40B4-BE49-F238E27FC236}">
                <a16:creationId xmlns:a16="http://schemas.microsoft.com/office/drawing/2014/main" id="{A11262F1-953E-498D-83E7-96C03FE2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384048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93" name="Google Shape;93;p10">
            <a:extLst xmlns:a="http://schemas.openxmlformats.org/drawingml/2006/main">
              <a:ext uri="{FF2B5EF4-FFF2-40B4-BE49-F238E27FC236}">
                <a16:creationId xmlns:a16="http://schemas.microsoft.com/office/drawing/2014/main" id="{43661415-D667-4B75-9FF8-CC311A90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88720"/>
            <a:ext cx="329184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3"/>
              </a:spcAft>
              <a:defRPr sz="126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그때 알 수 있던 정보만 사용</a:t>
            </a:r>
          </a:p>
          <a:p xmlns:a="http://schemas.openxmlformats.org/drawingml/2006/main">
            <a:pPr algn="l">
              <a:spcAft>
                <a:spcPts val="20"/>
              </a:spcAft>
              <a:defRPr sz="126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6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전년말 시가총액 상위 300종목을 다음 해에 적용
전자공시는 실제 공개된 날 이후만 사용
기본 혼합전략은 공시 후 1거래일 뒤 반영</a:t>
            </a:r>
          </a:p>
          <a:p xmlns:a="http://schemas.openxmlformats.org/drawingml/2006/main">
            <a:pPr algn="l">
              <a:spcBef>
                <a:spcPts val="2"/>
              </a:spcBef>
              <a:spcAft>
                <a:spcPts val="3"/>
              </a:spcAft>
              <a:defRPr sz="126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데이터 범위</a:t>
            </a:r>
          </a:p>
          <a:p xmlns:a="http://schemas.openxmlformats.org/drawingml/2006/main">
            <a:pPr algn="l">
              <a:spcAft>
                <a:spcPts val="0"/>
              </a:spcAft>
              <a:defRPr sz="126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6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상폐 포함 가격 · 배당 재투자
없는 숫자는 제외·기록, 추정 금지</a:t>
            </a:r>
          </a:p>
        </p:txBody>
      </p:sp>
      <p:sp>
        <p:nvSpPr>
          <p:cNvPr id="94" name="Google Shape;94;p10">
            <a:extLst xmlns:a="http://schemas.openxmlformats.org/drawingml/2006/main">
              <a:ext uri="{FF2B5EF4-FFF2-40B4-BE49-F238E27FC236}">
                <a16:creationId xmlns:a16="http://schemas.microsoft.com/office/drawing/2014/main" id="{9968B9BB-22C8-4493-B123-F2EC0F5B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005840"/>
            <a:ext cx="384048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95" name="Google Shape;95;p10">
            <a:extLst xmlns:a="http://schemas.openxmlformats.org/drawingml/2006/main">
              <a:ext uri="{FF2B5EF4-FFF2-40B4-BE49-F238E27FC236}">
                <a16:creationId xmlns:a16="http://schemas.microsoft.com/office/drawing/2014/main" id="{6536140E-66A1-46F3-BB4E-1F46F03A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88720"/>
            <a:ext cx="329184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3"/>
              </a:spcAft>
              <a:defRPr sz="129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다음 시가 체결</a:t>
            </a:r>
          </a:p>
          <a:p xmlns:a="http://schemas.openxmlformats.org/drawingml/2006/main">
            <a:pPr algn="l">
              <a:spcAft>
                <a:spcPts val="22"/>
              </a:spcAft>
              <a:defRPr sz="129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9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신호일 종가로 순위 계산
다음 거래일 시가에 체결</a:t>
            </a:r>
          </a:p>
          <a:p xmlns:a="http://schemas.openxmlformats.org/drawingml/2006/main">
            <a:pPr algn="l">
              <a:spcBef>
                <a:spcPts val="2"/>
              </a:spcBef>
              <a:spcAft>
                <a:spcPts val="3"/>
              </a:spcAft>
              <a:defRPr sz="129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비용·제약</a:t>
            </a:r>
          </a:p>
          <a:p xmlns:a="http://schemas.openxmlformats.org/drawingml/2006/main">
            <a:pPr algn="l">
              <a:spcAft>
                <a:spcPts val="0"/>
              </a:spcAft>
              <a:defRPr sz="129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9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한국 매수비용 0.25% · 매도비용 0.43%
미국 무료자료는 매매 한 번에 0.10%
빚을 내지 않음 · 현금 수익률 0%</a:t>
            </a:r>
          </a:p>
        </p:txBody>
      </p:sp>
    </p:spTree>
    <p:extLst>
      <p:ext uri="{BB962C8B-B14F-4D97-AF65-F5344CB8AC3E}">
        <p14:creationId xmlns:p14="http://schemas.microsoft.com/office/powerpoint/2010/main" val="18984345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2330BC9-829C-4269-A8FF-4A3DECCA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9C27B890-FADD-4AF6-8246-43DDF453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초기 추세·돌파 전략은 대부분 살아남지 못했다</a:t>
            </a:r>
          </a:p>
        </p:txBody>
      </p:sp>
      <p:cxnSp>
        <p:nvCxnSpPr>
          <p:cNvPr id="47" name="Google Shape;29;p4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1EF3CF8A-E3B4-44F8-B8ED-54BC5E6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C등급 · 2016-07-11~2026-07-10 · 6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4D9408C-70BD-4623-B903-CD935AD3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8046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C2F34915-C869-414F-B4B6-8A93DA34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1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15" b="1">
                <a:solidFill>
                  <a:srgbClr val="E74C3C"/>
                </a:solidFill>
                <a:latin typeface="Calibri"/>
                <a:ea typeface="Calibri"/>
                <a:cs typeface="Calibri"/>
              </a:rPr>
              <a:t>C등급 · 6개 모두 연평균 손실</a:t>
            </a:r>
            <a:r>
              <a:rPr/>
              <a:t>    |    현재 상장종목만 쓴 +31.46%는 과대평가 경보</a:t>
            </a:r>
          </a:p>
        </p:txBody>
      </p:sp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2571750" y="914400"/>
          <a:ext xmlns:a="http://schemas.openxmlformats.org/drawingml/2006/main" cx="5934075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229b0c320d46b4"/>
          </a:graphicData>
        </a:graphic>
      </p:graphicFrame>
      <p:sp>
        <p:nvSpPr>
          <p:cNvPr id="39" name="manual-axis-label-1">
            <a:extLst xmlns:a="http://schemas.openxmlformats.org/drawingml/2006/main">
              <a:ext uri="{FF2B5EF4-FFF2-40B4-BE49-F238E27FC236}">
                <a16:creationId xmlns:a16="http://schemas.microsoft.com/office/drawing/2014/main" id="{A4869001-2410-4D6B-A781-800A62A2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971550"/>
            <a:ext cx="1952625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7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878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추세가 꺾일 때까지 보유  -1.7%</a:t>
            </a:r>
          </a:p>
        </p:txBody>
      </p:sp>
      <p:sp>
        <p:nvSpPr>
          <p:cNvPr id="40" name="manual-axis-label-2">
            <a:extLst xmlns:a="http://schemas.openxmlformats.org/drawingml/2006/main">
              <a:ext uri="{FF2B5EF4-FFF2-40B4-BE49-F238E27FC236}">
                <a16:creationId xmlns:a16="http://schemas.microsoft.com/office/drawing/2014/main" id="{309AA2E9-8AE3-4502-955E-40EA9FFF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92555"/>
            <a:ext cx="1952625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7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878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1년 수익률 양수 종목  -15.0%</a:t>
            </a:r>
          </a:p>
        </p:txBody>
      </p:sp>
      <p:sp>
        <p:nvSpPr>
          <p:cNvPr id="41" name="manual-axis-label-3">
            <a:extLst xmlns:a="http://schemas.openxmlformats.org/drawingml/2006/main">
              <a:ext uri="{FF2B5EF4-FFF2-40B4-BE49-F238E27FC236}">
                <a16:creationId xmlns:a16="http://schemas.microsoft.com/office/drawing/2014/main" id="{6C000D14-1123-4D1B-9871-FE994207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813560"/>
            <a:ext cx="1952625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7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878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10개월 이동평균선  -14.1%</a:t>
            </a:r>
          </a:p>
        </p:txBody>
      </p:sp>
      <p:sp>
        <p:nvSpPr>
          <p:cNvPr id="42" name="manual-axis-label-4">
            <a:extLst xmlns:a="http://schemas.openxmlformats.org/drawingml/2006/main">
              <a:ext uri="{FF2B5EF4-FFF2-40B4-BE49-F238E27FC236}">
                <a16:creationId xmlns:a16="http://schemas.microsoft.com/office/drawing/2014/main" id="{61D2DEC2-A4D7-4A21-80A3-66AA009C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234565"/>
            <a:ext cx="1952625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7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878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55일 돌파·20일 이탈  -13.8%</a:t>
            </a:r>
          </a:p>
        </p:txBody>
      </p:sp>
      <p:sp>
        <p:nvSpPr>
          <p:cNvPr id="43" name="manual-axis-label-5">
            <a:extLst xmlns:a="http://schemas.openxmlformats.org/drawingml/2006/main">
              <a:ext uri="{FF2B5EF4-FFF2-40B4-BE49-F238E27FC236}">
                <a16:creationId xmlns:a16="http://schemas.microsoft.com/office/drawing/2014/main" id="{89CB6A7A-167B-4C6B-A341-B187AFE0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655570"/>
            <a:ext cx="1952625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7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878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엄격한 성장주 조건  -20.1%</a:t>
            </a:r>
          </a:p>
        </p:txBody>
      </p:sp>
      <p:sp>
        <p:nvSpPr>
          <p:cNvPr id="44" name="manual-axis-label-6">
            <a:extLst xmlns:a="http://schemas.openxmlformats.org/drawingml/2006/main">
              <a:ext uri="{FF2B5EF4-FFF2-40B4-BE49-F238E27FC236}">
                <a16:creationId xmlns:a16="http://schemas.microsoft.com/office/drawing/2014/main" id="{E082E8B6-DE99-4586-821E-A7193A58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076575"/>
            <a:ext cx="1952625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7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878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최근 12개월 수익률  -15.1%</a:t>
            </a:r>
          </a:p>
        </p:txBody>
      </p:sp>
    </p:spTree>
    <p:extLst>
      <p:ext uri="{BB962C8B-B14F-4D97-AF65-F5344CB8AC3E}">
        <p14:creationId xmlns:p14="http://schemas.microsoft.com/office/powerpoint/2010/main" val="2471733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Google Shape;101;p11">
            <a:extLst xmlns:a="http://schemas.openxmlformats.org/drawingml/2006/main">
              <a:ext uri="{FF2B5EF4-FFF2-40B4-BE49-F238E27FC236}">
                <a16:creationId xmlns:a16="http://schemas.microsoft.com/office/drawing/2014/main" id="{38CDF35B-802E-415E-9689-960BAB4B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102" name="Google Shape;102;p11">
            <a:extLst xmlns:a="http://schemas.openxmlformats.org/drawingml/2006/main">
              <a:ext uri="{FF2B5EF4-FFF2-40B4-BE49-F238E27FC236}">
                <a16:creationId xmlns:a16="http://schemas.microsoft.com/office/drawing/2014/main" id="{4F537A3C-AF09-4355-9386-99CABF4A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상장폐지 종목을 포함하자 연평균 수익률은 8.82%였다</a:t>
            </a:r>
          </a:p>
        </p:txBody>
      </p:sp>
      <p:cxnSp>
        <p:nvCxnSpPr>
          <p:cNvPr id="116" name="Google Shape;103;p11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" name="Google Shape;104;p11">
            <a:extLst xmlns:a="http://schemas.openxmlformats.org/drawingml/2006/main">
              <a:ext uri="{FF2B5EF4-FFF2-40B4-BE49-F238E27FC236}">
                <a16:creationId xmlns:a16="http://schemas.microsoft.com/office/drawing/2014/main" id="{235C8BC7-13A8-4A24-BEA6-81555524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A·C등급 · 2017-01-02~2026-07-16 · 7</a:t>
            </a:r>
          </a:p>
        </p:txBody>
      </p:sp>
      <p:sp>
        <p:nvSpPr>
          <p:cNvPr id="105" name="Google Shape;105;p11">
            <a:extLst xmlns:a="http://schemas.openxmlformats.org/drawingml/2006/main">
              <a:ext uri="{FF2B5EF4-FFF2-40B4-BE49-F238E27FC236}">
                <a16:creationId xmlns:a16="http://schemas.microsoft.com/office/drawing/2014/main" id="{94ECEA4F-E0E8-4C2A-8F4C-806B5AD1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804672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5"/>
          </a:solidFill>
          <a:ln xmlns:a="http://schemas.openxmlformats.org/drawingml/2006/main" w="12700" cmpd="sng">
            <a:solidFill>
              <a:srgbClr val="E0E0E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106" name="Google Shape;106;p11">
            <a:extLst xmlns:a="http://schemas.openxmlformats.org/drawingml/2006/main">
              <a:ext uri="{FF2B5EF4-FFF2-40B4-BE49-F238E27FC236}">
                <a16:creationId xmlns:a16="http://schemas.microsoft.com/office/drawing/2014/main" id="{45AE1B03-023F-41CE-8F1B-33961A34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73152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107" name="Google Shape;107;p11">
            <a:extLst xmlns:a="http://schemas.openxmlformats.org/drawingml/2006/main">
              <a:ext uri="{FF2B5EF4-FFF2-40B4-BE49-F238E27FC236}">
                <a16:creationId xmlns:a16="http://schemas.microsoft.com/office/drawing/2014/main" id="{A96098D0-80CB-48DA-9C86-8B27A3DE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7280"/>
            <a:ext cx="7315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"/>
              </a:spcAft>
              <a:defRPr sz="123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74C3C"/>
                </a:solidFill>
                <a:latin typeface="Calibri"/>
                <a:ea typeface="Calibri"/>
                <a:cs typeface="Calibri"/>
              </a:rPr>
              <a:t>기존 숫자 — 연평균 21.78% · 최대 낙폭 -16.44%</a:t>
            </a:r>
          </a:p>
          <a:p xmlns:a="http://schemas.openxmlformats.org/drawingml/2006/main">
            <a:pPr algn="l">
              <a:defRPr sz="123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38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급락주와 상장폐지 종목이 빠진 원본 주가자료 · 전체기간에 맞춰 조건 조정</a:t>
            </a:r>
          </a:p>
        </p:txBody>
      </p:sp>
      <p:sp>
        <p:nvSpPr>
          <p:cNvPr id="108" name="Google Shape;108;p11">
            <a:extLst xmlns:a="http://schemas.openxmlformats.org/drawingml/2006/main">
              <a:ext uri="{FF2B5EF4-FFF2-40B4-BE49-F238E27FC236}">
                <a16:creationId xmlns:a16="http://schemas.microsoft.com/office/drawing/2014/main" id="{85116D3E-5183-491D-929E-E0D21536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804672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2700" cmpd="sng">
            <a:solidFill>
              <a:srgbClr val="E0E0E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109" name="Google Shape;109;p11">
            <a:extLst xmlns:a="http://schemas.openxmlformats.org/drawingml/2006/main">
              <a:ext uri="{FF2B5EF4-FFF2-40B4-BE49-F238E27FC236}">
                <a16:creationId xmlns:a16="http://schemas.microsoft.com/office/drawing/2014/main" id="{43B0CE16-2FA9-4735-8C68-D01A7C68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73152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110" name="Google Shape;110;p11">
            <a:extLst xmlns:a="http://schemas.openxmlformats.org/drawingml/2006/main">
              <a:ext uri="{FF2B5EF4-FFF2-40B4-BE49-F238E27FC236}">
                <a16:creationId xmlns:a16="http://schemas.microsoft.com/office/drawing/2014/main" id="{0A09FBD8-77D2-48E5-ABBC-2D6143C6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4640"/>
            <a:ext cx="7315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"/>
              </a:spcAft>
              <a:defRPr sz="123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다시 계산 — 연평균 8.82% · 검증구간 연평균 2.83%</a:t>
            </a:r>
          </a:p>
          <a:p xmlns:a="http://schemas.openxmlformats.org/drawingml/2006/main">
            <a:pPr algn="l">
              <a:defRPr sz="123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38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상장폐지 포함 주가 + 배당 포함 · 검증구간 최대 낙폭 -34.33%</a:t>
            </a:r>
          </a:p>
        </p:txBody>
      </p:sp>
    </p:spTree>
    <p:extLst>
      <p:ext uri="{BB962C8B-B14F-4D97-AF65-F5344CB8AC3E}">
        <p14:creationId xmlns:p14="http://schemas.microsoft.com/office/powerpoint/2010/main" val="1060197577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>
                <a:solidFill>
                  <a:srgbClr val="1B3A5C"/>
                </a:solidFill>
                <a:latin typeface="맑은 고딕"/>
                <a:cs typeface="맑은 고딕"/>
                <a:ea typeface="맑은 고딕"/>
              </a:rPr>
              <a:t>생존편향을 빼면 초과수익은 대부분 사라진다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31520"/>
            <a:ext cx="1371600" cy="0"/>
          </a:xfrm>
          <a:prstGeom prst="line">
            <a:avLst/>
          </a:prstGeom>
          <a:ln w="28575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urvivorship-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933450"/>
            <a:ext cx="7505700" cy="28969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023360"/>
            <a:ext cx="8046720" cy="8229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7498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40" b="1">
                <a:solidFill>
                  <a:srgbClr val="F39C12"/>
                </a:solidFill>
                <a:latin typeface="맑은 고딕"/>
                <a:cs typeface="맑은 고딕"/>
                <a:ea typeface="맑은 고딕"/>
              </a:rPr>
              <a:t>데이터가 곡선을 만든다</a:t>
            </a:r>
            <a:r>
              <a:rPr sz="1140" b="0">
                <a:solidFill>
                  <a:srgbClr val="2F3E4D"/>
                </a:solidFill>
                <a:latin typeface="맑은 고딕"/>
                <a:cs typeface="맑은 고딕"/>
                <a:ea typeface="맑은 고딕"/>
              </a:rPr>
              <a:t>    |    구형 21.78% → 정직 재계산 8.82%(≈시장) · 편향이 만든 초과수익 대부분 소멸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846320"/>
            <a:ext cx="2377440" cy="205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63" b="0">
                <a:solidFill>
                  <a:srgbClr val="7F8C8D"/>
                </a:solidFill>
                <a:latin typeface="맑은 고딕"/>
                <a:cs typeface="맑은 고딕"/>
                <a:ea typeface="맑은 고딕"/>
              </a:rPr>
              <a:t>데이터 A·C등급 · 2017-01-02~2026-07-16 · 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2330BC9-829C-4269-A8FF-4A3DECCA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9C27B890-FADD-4AF6-8246-43DDF453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처음 시험한 12가지 기준은 통계 검증에 실패했다</a:t>
            </a:r>
          </a:p>
        </p:txBody>
      </p:sp>
      <p:cxnSp>
        <p:nvCxnSpPr>
          <p:cNvPr id="54" name="Google Shape;29;p4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1EF3CF8A-E3B4-44F8-B8ED-54BC5E6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A등급 · 2017-01-02~2026-07-16 · 9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4D9408C-70BD-4623-B903-CD935AD3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8046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C2F34915-C869-414F-B4B6-8A93DA34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7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170" b="1">
                <a:solidFill>
                  <a:srgbClr val="E74C3C"/>
                </a:solidFill>
                <a:latin typeface="Calibri"/>
                <a:ea typeface="Calibri"/>
                <a:cs typeface="Calibri"/>
              </a:rPr>
              <a:t>수익률 아님: 위험 대비 수익 점수</a:t>
            </a:r>
            <a:r>
              <a:rPr/>
              <a:t>    |    최고 0.77점 &lt; 통과 기준 0.84점 · 0/12 통과    |    0.84 = 전 전략 공통 위험조정수익 통과선</a:t>
            </a:r>
          </a:p>
        </p:txBody>
      </p:sp>
      <p:graphicFrame>
        <p:nvGraphicFramePr>
          <p:cNvPr id="58" name="Chart"/>
          <p:cNvGraphicFramePr/>
          <p:nvPr/>
        </p:nvGraphicFramePr>
        <p:xfrm>
          <a:off xmlns:a="http://schemas.openxmlformats.org/drawingml/2006/main" x="2428875" y="838200"/>
          <a:ext xmlns:a="http://schemas.openxmlformats.org/drawingml/2006/main" cx="6166485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2ae691e8654a4c"/>
          </a:graphicData>
        </a:graphic>
      </p:graphicFrame>
      <p:sp>
        <p:nvSpPr>
          <p:cNvPr id="39" name="hide-artifact-axis-labels">
            <a:extLst xmlns:a="http://schemas.openxmlformats.org/drawingml/2006/main">
              <a:ext uri="{FF2B5EF4-FFF2-40B4-BE49-F238E27FC236}">
                <a16:creationId xmlns:a16="http://schemas.microsoft.com/office/drawing/2014/main" id="{547D1661-325D-4803-B54D-3A271D10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43275"/>
            <a:ext cx="616648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manual-axis-label-1">
            <a:extLst xmlns:a="http://schemas.openxmlformats.org/drawingml/2006/main">
              <a:ext uri="{FF2B5EF4-FFF2-40B4-BE49-F238E27FC236}">
                <a16:creationId xmlns:a16="http://schemas.microsoft.com/office/drawing/2014/main" id="{C3D288D7-D195-47FB-AD4F-B868DF8E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095375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낮은 변동성 (-0.10)</a:t>
            </a:r>
          </a:p>
        </p:txBody>
      </p:sp>
      <p:sp>
        <p:nvSpPr>
          <p:cNvPr id="41" name="manual-axis-label-2">
            <a:extLst xmlns:a="http://schemas.openxmlformats.org/drawingml/2006/main">
              <a:ext uri="{FF2B5EF4-FFF2-40B4-BE49-F238E27FC236}">
                <a16:creationId xmlns:a16="http://schemas.microsoft.com/office/drawing/2014/main" id="{647BC53E-7941-4846-BD0A-A5227ADC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277779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주가상승+낮은 변동성 (-0.07)</a:t>
            </a:r>
          </a:p>
        </p:txBody>
      </p:sp>
      <p:sp>
        <p:nvSpPr>
          <p:cNvPr id="42" name="manual-axis-label-3">
            <a:extLst xmlns:a="http://schemas.openxmlformats.org/drawingml/2006/main">
              <a:ext uri="{FF2B5EF4-FFF2-40B4-BE49-F238E27FC236}">
                <a16:creationId xmlns:a16="http://schemas.microsoft.com/office/drawing/2014/main" id="{90D74303-56E6-446B-9963-DAA93DD7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60183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네 기준 모두</a:t>
            </a:r>
          </a:p>
        </p:txBody>
      </p:sp>
      <p:sp>
        <p:nvSpPr>
          <p:cNvPr id="43" name="manual-axis-label-4">
            <a:extLst xmlns:a="http://schemas.openxmlformats.org/drawingml/2006/main">
              <a:ext uri="{FF2B5EF4-FFF2-40B4-BE49-F238E27FC236}">
                <a16:creationId xmlns:a16="http://schemas.microsoft.com/office/drawing/2014/main" id="{11DA7E8C-A8EB-4AA3-A394-76671DC5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42586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저평가+낮은 변동성</a:t>
            </a:r>
          </a:p>
        </p:txBody>
      </p:sp>
      <p:sp>
        <p:nvSpPr>
          <p:cNvPr id="44" name="manual-axis-label-5">
            <a:extLst xmlns:a="http://schemas.openxmlformats.org/drawingml/2006/main">
              <a:ext uri="{FF2B5EF4-FFF2-40B4-BE49-F238E27FC236}">
                <a16:creationId xmlns:a16="http://schemas.microsoft.com/office/drawing/2014/main" id="{592D0969-DB92-409B-909D-E114864C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824990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저평가+재무건전+낮은 변동성</a:t>
            </a:r>
          </a:p>
        </p:txBody>
      </p:sp>
      <p:sp>
        <p:nvSpPr>
          <p:cNvPr id="45" name="manual-axis-label-6">
            <a:extLst xmlns:a="http://schemas.openxmlformats.org/drawingml/2006/main">
              <a:ext uri="{FF2B5EF4-FFF2-40B4-BE49-F238E27FC236}">
                <a16:creationId xmlns:a16="http://schemas.microsoft.com/office/drawing/2014/main" id="{C34A0CDC-2C48-4107-8A75-E98EF2BD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07394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저평가+재무건전</a:t>
            </a:r>
          </a:p>
        </p:txBody>
      </p:sp>
      <p:sp>
        <p:nvSpPr>
          <p:cNvPr id="46" name="manual-axis-label-7">
            <a:extLst xmlns:a="http://schemas.openxmlformats.org/drawingml/2006/main">
              <a:ext uri="{FF2B5EF4-FFF2-40B4-BE49-F238E27FC236}">
                <a16:creationId xmlns:a16="http://schemas.microsoft.com/office/drawing/2014/main" id="{183ED909-7FE7-4786-A41F-49214640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189798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저평가+이익성장</a:t>
            </a:r>
          </a:p>
        </p:txBody>
      </p:sp>
      <p:sp>
        <p:nvSpPr>
          <p:cNvPr id="47" name="manual-axis-label-8">
            <a:extLst xmlns:a="http://schemas.openxmlformats.org/drawingml/2006/main">
              <a:ext uri="{FF2B5EF4-FFF2-40B4-BE49-F238E27FC236}">
                <a16:creationId xmlns:a16="http://schemas.microsoft.com/office/drawing/2014/main" id="{6BCA07B4-A367-435C-BD64-8C25B7BB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372201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저평가</a:t>
            </a:r>
          </a:p>
        </p:txBody>
      </p:sp>
      <p:sp>
        <p:nvSpPr>
          <p:cNvPr id="48" name="manual-axis-label-9">
            <a:extLst xmlns:a="http://schemas.openxmlformats.org/drawingml/2006/main">
              <a:ext uri="{FF2B5EF4-FFF2-40B4-BE49-F238E27FC236}">
                <a16:creationId xmlns:a16="http://schemas.microsoft.com/office/drawing/2014/main" id="{29A5B2EA-7888-4B83-B8B0-938F0FA2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554605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주가 상승세</a:t>
            </a:r>
          </a:p>
        </p:txBody>
      </p:sp>
      <p:sp>
        <p:nvSpPr>
          <p:cNvPr id="49" name="manual-axis-label-10">
            <a:extLst xmlns:a="http://schemas.openxmlformats.org/drawingml/2006/main">
              <a:ext uri="{FF2B5EF4-FFF2-40B4-BE49-F238E27FC236}">
                <a16:creationId xmlns:a16="http://schemas.microsoft.com/office/drawing/2014/main" id="{12F5E829-962A-4119-A70E-D063C59E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737009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기본 혼합전략</a:t>
            </a:r>
          </a:p>
        </p:txBody>
      </p:sp>
      <p:sp>
        <p:nvSpPr>
          <p:cNvPr id="50" name="manual-axis-label-11">
            <a:extLst xmlns:a="http://schemas.openxmlformats.org/drawingml/2006/main">
              <a:ext uri="{FF2B5EF4-FFF2-40B4-BE49-F238E27FC236}">
                <a16:creationId xmlns:a16="http://schemas.microsoft.com/office/drawing/2014/main" id="{8BCA77E9-5BB4-497B-BB28-848DF127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919413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자산수익성</a:t>
            </a:r>
          </a:p>
        </p:txBody>
      </p:sp>
      <p:sp>
        <p:nvSpPr>
          <p:cNvPr id="51" name="manual-axis-label-12">
            <a:extLst xmlns:a="http://schemas.openxmlformats.org/drawingml/2006/main">
              <a:ext uri="{FF2B5EF4-FFF2-40B4-BE49-F238E27FC236}">
                <a16:creationId xmlns:a16="http://schemas.microsoft.com/office/drawing/2014/main" id="{C83E5DB4-BDD4-4D29-BD78-4E0C6483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01816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주당순이익 성장</a:t>
            </a:r>
          </a:p>
        </p:txBody>
      </p:sp>
    </p:spTree>
    <p:extLst>
      <p:ext uri="{BB962C8B-B14F-4D97-AF65-F5344CB8AC3E}">
        <p14:creationId xmlns:p14="http://schemas.microsoft.com/office/powerpoint/2010/main" val="2471733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2330BC9-829C-4269-A8FF-4A3DECCA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9C27B890-FADD-4AF6-8246-43DDF453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주가 상승세를 다르게 재자 52주 최고가 전략이 앞섰다</a:t>
            </a:r>
          </a:p>
        </p:txBody>
      </p:sp>
      <p:cxnSp>
        <p:nvCxnSpPr>
          <p:cNvPr id="41" name="Google Shape;29;p4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1EF3CF8A-E3B4-44F8-B8ED-54BC5E6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A등급 · 2017-01-02~2026-07-16 · 10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4D9408C-70BD-4623-B903-CD935AD3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8046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C2F34915-C869-414F-B4B6-8A93DA34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08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52주 최고가 근접</a:t>
            </a:r>
            <a:r>
              <a:rPr/>
              <a:t>  최대 낙폭 -26% · 검증구간 연평균 14.0% · 통계 검증 통과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819150" y="962025"/>
          <a:ext xmlns:a="http://schemas.openxmlformats.org/drawingml/2006/main" cx="750570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282c69fdc3485d"/>
          </a:graphicData>
        </a:graphic>
      </p:graphicFrame>
    </p:spTree>
    <p:extLst>
      <p:ext uri="{BB962C8B-B14F-4D97-AF65-F5344CB8AC3E}">
        <p14:creationId xmlns:p14="http://schemas.microsoft.com/office/powerpoint/2010/main" val="2471733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12">
            <a:extLst xmlns:a="http://schemas.openxmlformats.org/drawingml/2006/main">
              <a:ext uri="{FF2B5EF4-FFF2-40B4-BE49-F238E27FC236}">
                <a16:creationId xmlns:a16="http://schemas.microsoft.com/office/drawing/2014/main" id="{5ABF0630-E927-423C-A4CF-04A73D82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117" name="Google Shape;117;p12">
            <a:extLst xmlns:a="http://schemas.openxmlformats.org/drawingml/2006/main">
              <a:ext uri="{FF2B5EF4-FFF2-40B4-BE49-F238E27FC236}">
                <a16:creationId xmlns:a16="http://schemas.microsoft.com/office/drawing/2014/main" id="{F82C91F1-C15C-4538-BBC8-E9D5F5BE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최종 규칙은 간단하지만 데이터 사용 원칙은 엄격하다</a:t>
            </a:r>
          </a:p>
        </p:txBody>
      </p:sp>
      <p:cxnSp>
        <p:nvCxnSpPr>
          <p:cNvPr id="127" name="Google Shape;118;p12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" name="Google Shape;119;p12">
            <a:extLst xmlns:a="http://schemas.openxmlformats.org/drawingml/2006/main">
              <a:ext uri="{FF2B5EF4-FFF2-40B4-BE49-F238E27FC236}">
                <a16:creationId xmlns:a16="http://schemas.microsoft.com/office/drawing/2014/main" id="{BCA99200-9576-435B-B3CD-986FACC1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A등급 · 2026-07-16 · 11</a:t>
            </a:r>
          </a:p>
        </p:txBody>
      </p:sp>
      <p:sp>
        <p:nvSpPr>
          <p:cNvPr id="120" name="Google Shape;120;p12">
            <a:extLst xmlns:a="http://schemas.openxmlformats.org/drawingml/2006/main">
              <a:ext uri="{FF2B5EF4-FFF2-40B4-BE49-F238E27FC236}">
                <a16:creationId xmlns:a16="http://schemas.microsoft.com/office/drawing/2014/main" id="{D18332BA-F2F6-42A2-8CA5-B57F52C6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804672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121" name="Google Shape;121;p12">
            <a:extLst xmlns:a="http://schemas.openxmlformats.org/drawingml/2006/main">
              <a:ext uri="{FF2B5EF4-FFF2-40B4-BE49-F238E27FC236}">
                <a16:creationId xmlns:a16="http://schemas.microsoft.com/office/drawing/2014/main" id="{8329C9FC-CE35-4C90-8EA8-927CBC75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88720"/>
            <a:ext cx="7315200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3"/>
              </a:spcAft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투자 대상</a:t>
            </a:r>
          </a:p>
          <a:p xmlns:a="http://schemas.openxmlformats.org/drawingml/2006/main">
            <a:pPr algn="l">
              <a:spcAft>
                <a:spcPts val="19"/>
              </a:spcAft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전년말 한국거래소 보통주 시총 상위 300종목
이 명단을 다음 해에 사용 · 연 1회 교체</a:t>
            </a:r>
          </a:p>
          <a:p xmlns:a="http://schemas.openxmlformats.org/drawingml/2006/main">
            <a:pPr algn="l">
              <a:spcBef>
                <a:spcPts val="2"/>
              </a:spcBef>
              <a:spcAft>
                <a:spcPts val="3"/>
              </a:spcAft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종목 고르기</a:t>
            </a:r>
          </a:p>
          <a:p xmlns:a="http://schemas.openxmlformats.org/drawingml/2006/main">
            <a:pPr algn="l">
              <a:spcAft>
                <a:spcPts val="19"/>
              </a:spcAft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최근 1년 최고가에 가장 가까운 15종목
기존 보유종목은 45위까지 유지 · 종목당 6.67%</a:t>
            </a:r>
          </a:p>
          <a:p xmlns:a="http://schemas.openxmlformats.org/drawingml/2006/main">
            <a:pPr algn="l">
              <a:spcBef>
                <a:spcPts val="2"/>
              </a:spcBef>
              <a:spcAft>
                <a:spcPts val="3"/>
              </a:spcAft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손실 방어와 주문</a:t>
            </a:r>
          </a:p>
          <a:p xmlns:a="http://schemas.openxmlformats.org/drawingml/2006/main">
            <a:pPr algn="l">
              <a:spcAft>
                <a:spcPts val="0"/>
              </a:spcAft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매달 재선정 · 코스피 200일선 아래면 전액 현금
다음 날 시가 주문 · 비용 매수 0.25% / 매도 0.43%</a:t>
            </a:r>
          </a:p>
        </p:txBody>
      </p:sp>
    </p:spTree>
    <p:extLst>
      <p:ext uri="{BB962C8B-B14F-4D97-AF65-F5344CB8AC3E}">
        <p14:creationId xmlns:p14="http://schemas.microsoft.com/office/powerpoint/2010/main" val="15210289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2330BC9-829C-4269-A8FF-4A3DECCA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9C27B890-FADD-4AF6-8246-43DDF453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52주 전략이 수익·위험·검증의 균형점이었다</a:t>
            </a:r>
          </a:p>
        </p:txBody>
      </p:sp>
      <p:cxnSp>
        <p:nvCxnSpPr>
          <p:cNvPr id="41" name="Google Shape;29;p4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1EF3CF8A-E3B4-44F8-B8ED-54BC5E6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A등급 · 2017-01-02~2026-07-16 · 12</a:t>
            </a:r>
          </a:p>
        </p:txBody>
      </p:sp>
      <p:graphicFrame>
        <p:nvGraphicFramePr>
          <p:cNvPr id="43" name="Google Shape;31;p4"/>
          <p:cNvGraphicFramePr/>
          <p:nvPr/>
        </p:nvGraphicFramePr>
        <p:xfrm>
          <a:off xmlns:a="http://schemas.openxmlformats.org/drawingml/2006/main" x="365760" y="100584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{32CD161F-97BF-4DC4-BE34-3F26E5615511}</a:tableStyleId>
              </a:tblPr>
              <a:tblGrid>
                <a:gridCol w="1828800"/>
                <a:gridCol w="1097275"/>
                <a:gridCol w="1371600"/>
                <a:gridCol w="1371600"/>
                <a:gridCol w="1371600"/>
                <a:gridCol w="1371600"/>
              </a:tblGrid>
              <a:tr h="381000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6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전략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6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연평균</a:t>
                      </a: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6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수익률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6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위험 대비</a:t>
                      </a: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6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수익 점수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6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최대</a:t>
                      </a: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6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낙폭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6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검증구간</a:t>
                      </a: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6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연평균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6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통계 검증</a:t>
                      </a: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6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· 데이터 등급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52주 최고가 근접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16.41%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0.90점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-26.01%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14.0%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통과 · A등급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기본 혼합전략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11.80%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0.57점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-35.98%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6.14%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미달 · A등급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이익성장 중심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11.29%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0.66점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-31.75%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10.1%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미달 · A등급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시장 전체 + 200일선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5.20%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0.41점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-26.96%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8.49%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해당 없음 · A등급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구형 전략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8.82%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0.55점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-36.48%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2.83%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미달 · A등급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4D9408C-70BD-4623-B903-CD935AD3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8046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C2F34915-C869-414F-B4B6-8A93DA34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52주 전략</a:t>
            </a:r>
            <a:r>
              <a:rPr/>
              <a:t>  코스피(방어 없음) 연 6.0% 대비 +10.4%p 초과 · 비용 반영 후    |    연 매매 6.6배 · 통계검증 유일 통과</a:t>
            </a:r>
          </a:p>
        </p:txBody>
      </p:sp>
    </p:spTree>
    <p:extLst>
      <p:ext uri="{BB962C8B-B14F-4D97-AF65-F5344CB8AC3E}">
        <p14:creationId xmlns:p14="http://schemas.microsoft.com/office/powerpoint/2010/main" val="2471733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2330BC9-829C-4269-A8FF-4A3DECCA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9C27B890-FADD-4AF6-8246-43DDF453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52주 최고가 근접 전략</a:t>
            </a:r>
          </a:p>
        </p:txBody>
      </p:sp>
      <p:cxnSp>
        <p:nvCxnSpPr>
          <p:cNvPr id="41" name="Google Shape;29;p4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1EF3CF8A-E3B4-44F8-B8ED-54BC5E6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A등급 · 2017~2026년(연초 이후) · 13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4D9408C-70BD-4623-B903-CD935AD3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8046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C2F34915-C869-414F-B4B6-8A93DA34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4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14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막대 숫자 = 해당 연도 수익률</a:t>
            </a:r>
            <a:r>
              <a:rPr/>
              <a:t>    |    ⚠ 2018·2019·2022(코스피 -25%) 원본 미보존 → 최악 연도 누락    |    2026은 연초 이후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819150" y="933450"/>
          <a:ext xmlns:a="http://schemas.openxmlformats.org/drawingml/2006/main" cx="7505700" cy="2819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c71eba80284879"/>
          </a:graphicData>
        </a:graphic>
      </p:graphicFrame>
    </p:spTree>
    <p:extLst>
      <p:ext uri="{BB962C8B-B14F-4D97-AF65-F5344CB8AC3E}">
        <p14:creationId xmlns:p14="http://schemas.microsoft.com/office/powerpoint/2010/main" val="247173319"/>
      </p:ext>
    </p:extLst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1B3A5C"/>
                </a:solidFill>
                <a:latin typeface="맑은 고딕"/>
                <a:cs typeface="맑은 고딕"/>
                <a:ea typeface="맑은 고딕"/>
              </a:rPr>
              <a:t>52주 최고가 근접 전략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31520"/>
            <a:ext cx="1371600" cy="0"/>
          </a:xfrm>
          <a:prstGeom prst="line">
            <a:avLst/>
          </a:prstGeom>
          <a:ln w="28575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050000"/>
            <a:ext cx="8046720" cy="3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350" b="1">
                <a:solidFill>
                  <a:srgbClr val="F39C12"/>
                </a:solidFill>
                <a:latin typeface="맑은 고딕"/>
                <a:cs typeface="맑은 고딕"/>
                <a:ea typeface="맑은 고딕"/>
              </a:rPr>
              <a:t>선정 기준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F3E4D"/>
                </a:solidFill>
                <a:latin typeface="맑은 고딕"/>
                <a:cs typeface="맑은 고딕"/>
                <a:ea typeface="맑은 고딕"/>
              </a:rPr>
              <a:t>·  투자 대상 — 전년말 한국거래소 보통주 시가총액 상위 300종목 (연 1회 교체)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F3E4D"/>
                </a:solidFill>
                <a:latin typeface="맑은 고딕"/>
                <a:cs typeface="맑은 고딕"/>
                <a:ea typeface="맑은 고딕"/>
              </a:rPr>
              <a:t>·  종목 선정 — 최근 1년(52주) 최고가에 가장 가까운 상위 15종목 · 종목당 6.67% 균등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350" b="1">
                <a:solidFill>
                  <a:srgbClr val="F39C12"/>
                </a:solidFill>
                <a:latin typeface="맑은 고딕"/>
                <a:cs typeface="맑은 고딕"/>
                <a:ea typeface="맑은 고딕"/>
              </a:rPr>
              <a:t>매매 방법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F3E4D"/>
                </a:solidFill>
                <a:latin typeface="맑은 고딕"/>
                <a:cs typeface="맑은 고딕"/>
                <a:ea typeface="맑은 고딕"/>
              </a:rPr>
              <a:t>·  재선정 — 매달 1회, 기존 보유종목은 45위까지 유지해 교체 최소화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F3E4D"/>
                </a:solidFill>
                <a:latin typeface="맑은 고딕"/>
                <a:cs typeface="맑은 고딕"/>
                <a:ea typeface="맑은 고딕"/>
              </a:rPr>
              <a:t>·  시장 방어 — 코스피가 200일 이동평균선(-3%) 아래면 전액 현금, 회복 시 재진입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F3E4D"/>
                </a:solidFill>
                <a:latin typeface="맑은 고딕"/>
                <a:cs typeface="맑은 고딕"/>
                <a:ea typeface="맑은 고딕"/>
              </a:rPr>
              <a:t>·  체결 — 신호일 종가로 순위 계산 → 다음 거래일 시가 주문 · 비용 매수 0.25% / 매도 0.43%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F3E4D"/>
                </a:solidFill>
                <a:latin typeface="맑은 고딕"/>
                <a:cs typeface="맑은 고딕"/>
                <a:ea typeface="맑은 고딕"/>
              </a:rPr>
              <a:t>·  실행 — 계산은 자동, 거래정지·공시 확인 후 사람이 최종 주문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46320"/>
            <a:ext cx="2377440" cy="205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63" b="0">
                <a:solidFill>
                  <a:srgbClr val="7F8C8D"/>
                </a:solidFill>
                <a:latin typeface="맑은 고딕"/>
                <a:cs typeface="맑은 고딕"/>
                <a:ea typeface="맑은 고딕"/>
              </a:rPr>
              <a:t>데이터 A등급 · 2026-07-16 · 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F9183C7E-791A-4586-A04D-8AF85AF2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DE55F523-B84D-488F-BEBC-D79C83A6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시가총액 상위 300종목이 가장 균형적이었다</a:t>
            </a:r>
          </a:p>
        </p:txBody>
      </p:sp>
      <p:cxnSp>
        <p:nvCxnSpPr>
          <p:cNvPr id="62" name="Google Shape;53;p6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DD1DA8A4-C146-46B6-A3F7-157D0755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A등급 · 2017-01-02~2026-07-16 · 15</a:t>
            </a:r>
          </a:p>
        </p:txBody>
      </p:sp>
      <p:graphicFrame>
        <p:nvGraphicFramePr>
          <p:cNvPr id="64" name="Google Shape;55;p6"/>
          <p:cNvGraphicFramePr/>
          <p:nvPr/>
        </p:nvGraphicFramePr>
        <p:xfrm>
          <a:off xmlns:a="http://schemas.openxmlformats.org/drawingml/2006/main" x="365760" y="100584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{32CD161F-97BF-4DC4-BE34-3F26E5615511}</a:tableStyleId>
              </a:tblPr>
              <a:tblGrid>
                <a:gridCol w="1645925"/>
                <a:gridCol w="2560325"/>
                <a:gridCol w="2560325"/>
                <a:gridCol w="1645925"/>
              </a:tblGrid>
              <a:tr h="381000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4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투자 대상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4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전체기간</a:t>
                      </a: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4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연평균·점수·낙폭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4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검증구간</a:t>
                      </a: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4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연평균·낙폭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4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연간 매매 규모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상위 100종목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 7.9% · 0.53점 · -30%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 15.4% · -22%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원금 2.7배 · 통계 미달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상위 300종목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 16.4% · 0.90점 · -26%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 14.0% · -19%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원금 6.6배 · 통계 통과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상위 500종목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 14.9% · 0.74점 · -24%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 20.6% · -19%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원금 8.6배 · 통계 미달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결정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상위 300종목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유일하게 통계 통과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100·500은 통계 미달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주의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거래소 공식 원장 아님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검증기간 약 3.5년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상위500은 거래충격 큼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3F4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2369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10">
            <a:extLst xmlns:a="http://schemas.openxmlformats.org/drawingml/2006/main">
              <a:ext uri="{FF2B5EF4-FFF2-40B4-BE49-F238E27FC236}">
                <a16:creationId xmlns:a16="http://schemas.microsoft.com/office/drawing/2014/main" id="{580E377C-FC5C-4E24-910B-A83E5D0F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89" name="Google Shape;89;p10">
            <a:extLst xmlns:a="http://schemas.openxmlformats.org/drawingml/2006/main">
              <a:ext uri="{FF2B5EF4-FFF2-40B4-BE49-F238E27FC236}">
                <a16:creationId xmlns:a16="http://schemas.microsoft.com/office/drawing/2014/main" id="{9F8DB90B-6E04-4869-A463-7C5D78EB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200일 이동평균선이 최대 낙폭을 절반가량 줄였다</a:t>
            </a:r>
          </a:p>
        </p:txBody>
      </p:sp>
      <p:cxnSp>
        <p:nvCxnSpPr>
          <p:cNvPr id="101" name="Google Shape;90;p10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" name="Google Shape;91;p10">
            <a:extLst xmlns:a="http://schemas.openxmlformats.org/drawingml/2006/main">
              <a:ext uri="{FF2B5EF4-FFF2-40B4-BE49-F238E27FC236}">
                <a16:creationId xmlns:a16="http://schemas.microsoft.com/office/drawing/2014/main" id="{4C697FE6-7A66-4FEF-B778-3F1ACABC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A등급 · 2017-01-02~2026-07-16 · 16</a:t>
            </a:r>
          </a:p>
        </p:txBody>
      </p:sp>
      <p:sp>
        <p:nvSpPr>
          <p:cNvPr id="92" name="Google Shape;92;p10">
            <a:extLst xmlns:a="http://schemas.openxmlformats.org/drawingml/2006/main">
              <a:ext uri="{FF2B5EF4-FFF2-40B4-BE49-F238E27FC236}">
                <a16:creationId xmlns:a16="http://schemas.microsoft.com/office/drawing/2014/main" id="{A11262F1-953E-498D-83E7-96C03FE2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384048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93" name="Google Shape;93;p10">
            <a:extLst xmlns:a="http://schemas.openxmlformats.org/drawingml/2006/main">
              <a:ext uri="{FF2B5EF4-FFF2-40B4-BE49-F238E27FC236}">
                <a16:creationId xmlns:a16="http://schemas.microsoft.com/office/drawing/2014/main" id="{43661415-D667-4B75-9FF8-CC311A90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88720"/>
            <a:ext cx="329184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3"/>
              </a:spcAft>
              <a:defRPr sz="1223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200일선이 만든 방어</a:t>
            </a:r>
          </a:p>
          <a:p xmlns:a="http://schemas.openxmlformats.org/drawingml/2006/main">
            <a:pPr algn="l">
              <a:spcAft>
                <a:spcPts val="0"/>
              </a:spcAft>
              <a:defRPr sz="1223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23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시장 전체 · 방어 없음
연평균 6.0% · 최대 낙폭 -52.8%
시장 전체 · 200일선 적용
연평균 5.2% · 최대 낙폭 -27.0%
주가상승+이익성장 전략
최대 낙폭 -57.31% → -35.98%</a:t>
            </a:r>
          </a:p>
        </p:txBody>
      </p:sp>
      <p:sp>
        <p:nvSpPr>
          <p:cNvPr id="94" name="Google Shape;94;p10">
            <a:extLst xmlns:a="http://schemas.openxmlformats.org/drawingml/2006/main">
              <a:ext uri="{FF2B5EF4-FFF2-40B4-BE49-F238E27FC236}">
                <a16:creationId xmlns:a16="http://schemas.microsoft.com/office/drawing/2014/main" id="{9968B9BB-22C8-4493-B123-F2EC0F5B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005840"/>
            <a:ext cx="384048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95" name="Google Shape;95;p10">
            <a:extLst xmlns:a="http://schemas.openxmlformats.org/drawingml/2006/main">
              <a:ext uri="{FF2B5EF4-FFF2-40B4-BE49-F238E27FC236}">
                <a16:creationId xmlns:a16="http://schemas.microsoft.com/office/drawing/2014/main" id="{6536140E-66A1-46F3-BB4E-1F46F03A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88720"/>
            <a:ext cx="329184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3"/>
              </a:spcAft>
              <a:defRPr sz="1223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변동성 제한은 수익만 줄였다</a:t>
            </a:r>
          </a:p>
          <a:p xmlns:a="http://schemas.openxmlformats.org/drawingml/2006/main">
            <a:pPr algn="l">
              <a:spcAft>
                <a:spcPts val="0"/>
              </a:spcAft>
              <a:defRPr sz="1223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23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목표 변동성을 높일수록 수익률이 상승
12%: 7.60% → 18%: 8.82%
30%: 10.39% → 제한 없음: 11.80%
18% 제한은 낙폭을 줄이지 못해
연평균 수익률만 약 3%포인트 감소</a:t>
            </a:r>
          </a:p>
        </p:txBody>
      </p:sp>
    </p:spTree>
    <p:extLst>
      <p:ext uri="{BB962C8B-B14F-4D97-AF65-F5344CB8AC3E}">
        <p14:creationId xmlns:p14="http://schemas.microsoft.com/office/powerpoint/2010/main" val="18984345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F9183C7E-791A-4586-A04D-8AF85AF2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DE55F523-B84D-488F-BEBC-D79C83A6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대안 전략은 수익률보다 쓰임새가 다르다</a:t>
            </a:r>
          </a:p>
        </p:txBody>
      </p:sp>
      <p:cxnSp>
        <p:nvCxnSpPr>
          <p:cNvPr id="62" name="Google Shape;53;p6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DD1DA8A4-C146-46B6-A3F7-157D0755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A등급 · 2017-01-02~2026-07-16 · 17</a:t>
            </a:r>
          </a:p>
        </p:txBody>
      </p:sp>
      <p:graphicFrame>
        <p:nvGraphicFramePr>
          <p:cNvPr id="64" name="Google Shape;55;p6"/>
          <p:cNvGraphicFramePr/>
          <p:nvPr/>
        </p:nvGraphicFramePr>
        <p:xfrm>
          <a:off xmlns:a="http://schemas.openxmlformats.org/drawingml/2006/main" x="365760" y="100584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{32CD161F-97BF-4DC4-BE34-3F26E5615511}</a:tableStyleId>
              </a:tblPr>
              <a:tblGrid>
                <a:gridCol w="1645925"/>
                <a:gridCol w="2560325"/>
                <a:gridCol w="2560325"/>
                <a:gridCol w="1645925"/>
              </a:tblGrid>
              <a:tr h="342900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1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전략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1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종목을 고르는 방법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1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연평균 수익·점수·최대낙폭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1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쓰임새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304800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52주 최고가 근접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월 1회 · 15종목 · 45위까지 유지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 16.41% · 0.90점 · -26.01%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수익·균형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</a:tr>
              <a:tr h="304800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기본 혼합전략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주가상승+이익성장 · 5일마다 · 10종목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 11.80% · 0.57점 · -35.98%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기준선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</a:tr>
              <a:tr h="304800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이익성장 중심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이익·매출 성장만 · 15종목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 11.29% · 0.66점 · -31.75%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적극적 선택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시장 전체 + 200일선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약 200종목 · 월 1회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 5.20% · 0.41점 · -26.96%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자본보존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304800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이익성장 + 보유완충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월 1회 · 15종목 · 45위까지 유지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 9.96% · 0.60점 · -28.65%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매매 감소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2369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F9183C7E-791A-4586-A04D-8AF85AF2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DE55F523-B84D-488F-BEBC-D79C83A6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전체 전략군은 채택·보조·기각으로 정리된다</a:t>
            </a:r>
          </a:p>
        </p:txBody>
      </p:sp>
      <p:cxnSp>
        <p:nvCxnSpPr>
          <p:cNvPr id="62" name="Google Shape;53;p6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DD1DA8A4-C146-46B6-A3F7-157D0755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혼합등급 · 2026-07-19 · 18</a:t>
            </a:r>
          </a:p>
        </p:txBody>
      </p:sp>
      <p:graphicFrame>
        <p:nvGraphicFramePr>
          <p:cNvPr id="64" name="Google Shape;55;p6"/>
          <p:cNvGraphicFramePr/>
          <p:nvPr/>
        </p:nvGraphicFramePr>
        <p:xfrm>
          <a:off xmlns:a="http://schemas.openxmlformats.org/drawingml/2006/main" x="365760" y="100584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{32CD161F-97BF-4DC4-BE34-3F26E5615511}</a:tableStyleId>
              </a:tblPr>
              <a:tblGrid>
                <a:gridCol w="1645925"/>
                <a:gridCol w="2560325"/>
                <a:gridCol w="2560325"/>
                <a:gridCol w="1645925"/>
              </a:tblGrid>
              <a:tr h="27622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3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분류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3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전략군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3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판정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3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근거·다음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채택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52주 최고가 · 상위300 · 200일선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운용 후보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통계 검증 유일 통과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보조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기본 혼합 · 이익성장 · 시장전체+200일선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목적별 사용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기준선·적극선택·보존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기각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CEBE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초기 돌파 · 12가지 기준 · 18% 변동성 제한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CEBE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대표전략 제외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CEBE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실패·통계미달·수익감소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CEBE8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추가검증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8D9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한국거래소 공식 원장 · 미국 학술자료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8D9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숫자 대기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8D9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기업행사·상폐 완전검증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8D9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비교금지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C등급 연평균 30~40%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아이디어 전용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A등급과 직접 비교 금지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2369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12">
            <a:extLst xmlns:a="http://schemas.openxmlformats.org/drawingml/2006/main">
              <a:ext uri="{FF2B5EF4-FFF2-40B4-BE49-F238E27FC236}">
                <a16:creationId xmlns:a16="http://schemas.microsoft.com/office/drawing/2014/main" id="{5ABF0630-E927-423C-A4CF-04A73D82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117" name="Google Shape;117;p12">
            <a:extLst xmlns:a="http://schemas.openxmlformats.org/drawingml/2006/main">
              <a:ext uri="{FF2B5EF4-FFF2-40B4-BE49-F238E27FC236}">
                <a16:creationId xmlns:a16="http://schemas.microsoft.com/office/drawing/2014/main" id="{F82C91F1-C15C-4538-BBC8-E9D5F5BE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실제 운용은 월 1회 선정하고 다음 날 주문한다</a:t>
            </a:r>
          </a:p>
        </p:txBody>
      </p:sp>
      <p:cxnSp>
        <p:nvCxnSpPr>
          <p:cNvPr id="127" name="Google Shape;118;p12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" name="Google Shape;119;p12">
            <a:extLst xmlns:a="http://schemas.openxmlformats.org/drawingml/2006/main">
              <a:ext uri="{FF2B5EF4-FFF2-40B4-BE49-F238E27FC236}">
                <a16:creationId xmlns:a16="http://schemas.microsoft.com/office/drawing/2014/main" id="{BCA99200-9576-435B-B3CD-986FACC1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모델 신호 · 2026-07-19 · 19</a:t>
            </a:r>
          </a:p>
        </p:txBody>
      </p:sp>
      <p:sp>
        <p:nvSpPr>
          <p:cNvPr id="120" name="Google Shape;120;p12">
            <a:extLst xmlns:a="http://schemas.openxmlformats.org/drawingml/2006/main">
              <a:ext uri="{FF2B5EF4-FFF2-40B4-BE49-F238E27FC236}">
                <a16:creationId xmlns:a16="http://schemas.microsoft.com/office/drawing/2014/main" id="{D18332BA-F2F6-42A2-8CA5-B57F52C6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804672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121" name="Google Shape;121;p12">
            <a:extLst xmlns:a="http://schemas.openxmlformats.org/drawingml/2006/main">
              <a:ext uri="{FF2B5EF4-FFF2-40B4-BE49-F238E27FC236}">
                <a16:creationId xmlns:a16="http://schemas.microsoft.com/office/drawing/2014/main" id="{8329C9FC-CE35-4C90-8EA8-927CBC75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88720"/>
            <a:ext cx="7315200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3"/>
              </a:spcAft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월 1회 다시 선정</a:t>
            </a:r>
          </a:p>
          <a:p xmlns:a="http://schemas.openxmlformats.org/drawingml/2006/main">
            <a:pPr algn="l">
              <a:spcAft>
                <a:spcPts val="19"/>
              </a:spcAft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첫 거래일에 최근 1년 최고가 근접도를 다시 계산
상위 15종목 · 기존 보유는 45위까지 유지</a:t>
            </a:r>
          </a:p>
          <a:p xmlns:a="http://schemas.openxmlformats.org/drawingml/2006/main">
            <a:pPr algn="l">
              <a:spcBef>
                <a:spcPts val="2"/>
              </a:spcBef>
              <a:spcAft>
                <a:spcPts val="3"/>
              </a:spcAft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200일 이동평균선 확인</a:t>
            </a:r>
          </a:p>
          <a:p xmlns:a="http://schemas.openxmlformats.org/drawingml/2006/main">
            <a:pPr algn="l">
              <a:spcAft>
                <a:spcPts val="19"/>
              </a:spcAft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주 1회 이상 코스피와 200일선을 비교
3% 아래면 전액 현금 · 다시 3% 위면 재진입</a:t>
            </a:r>
          </a:p>
          <a:p xmlns:a="http://schemas.openxmlformats.org/drawingml/2006/main">
            <a:pPr algn="l">
              <a:spcBef>
                <a:spcPts val="2"/>
              </a:spcBef>
              <a:spcAft>
                <a:spcPts val="3"/>
              </a:spcAft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사람이 최종 주문</a:t>
            </a:r>
          </a:p>
          <a:p xmlns:a="http://schemas.openxmlformats.org/drawingml/2006/main">
            <a:pPr algn="l">
              <a:spcAft>
                <a:spcPts val="0"/>
              </a:spcAft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계산은 자동 → 거래정지·매매호가·공시를 확인
다음 날 시가에 주문 · 실제 주문은 수동</a:t>
            </a:r>
          </a:p>
        </p:txBody>
      </p:sp>
    </p:spTree>
    <p:extLst>
      <p:ext uri="{BB962C8B-B14F-4D97-AF65-F5344CB8AC3E}">
        <p14:creationId xmlns:p14="http://schemas.microsoft.com/office/powerpoint/2010/main" val="15210289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Google Shape;101;p11">
            <a:extLst xmlns:a="http://schemas.openxmlformats.org/drawingml/2006/main">
              <a:ext uri="{FF2B5EF4-FFF2-40B4-BE49-F238E27FC236}">
                <a16:creationId xmlns:a16="http://schemas.microsoft.com/office/drawing/2014/main" id="{38CDF35B-802E-415E-9689-960BAB4B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102" name="Google Shape;102;p11">
            <a:extLst xmlns:a="http://schemas.openxmlformats.org/drawingml/2006/main">
              <a:ext uri="{FF2B5EF4-FFF2-40B4-BE49-F238E27FC236}">
                <a16:creationId xmlns:a16="http://schemas.microsoft.com/office/drawing/2014/main" id="{4F537A3C-AF09-4355-9386-99CABF4A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더존비즈온 오류가 거래가능성 필터를 만들었다</a:t>
            </a:r>
          </a:p>
        </p:txBody>
      </p:sp>
      <p:cxnSp>
        <p:nvCxnSpPr>
          <p:cNvPr id="116" name="Google Shape;103;p11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" name="Google Shape;104;p11">
            <a:extLst xmlns:a="http://schemas.openxmlformats.org/drawingml/2006/main">
              <a:ext uri="{FF2B5EF4-FFF2-40B4-BE49-F238E27FC236}">
                <a16:creationId xmlns:a16="http://schemas.microsoft.com/office/drawing/2014/main" id="{235C8BC7-13A8-4A24-BEA6-81555524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모델 신호 · 2026-07-19 · 20</a:t>
            </a:r>
          </a:p>
        </p:txBody>
      </p:sp>
      <p:sp>
        <p:nvSpPr>
          <p:cNvPr id="105" name="Google Shape;105;p11">
            <a:extLst xmlns:a="http://schemas.openxmlformats.org/drawingml/2006/main">
              <a:ext uri="{FF2B5EF4-FFF2-40B4-BE49-F238E27FC236}">
                <a16:creationId xmlns:a16="http://schemas.microsoft.com/office/drawing/2014/main" id="{94ECEA4F-E0E8-4C2A-8F4C-806B5AD1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804672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5"/>
          </a:solidFill>
          <a:ln xmlns:a="http://schemas.openxmlformats.org/drawingml/2006/main" w="12700" cmpd="sng">
            <a:solidFill>
              <a:srgbClr val="E0E0E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106" name="Google Shape;106;p11">
            <a:extLst xmlns:a="http://schemas.openxmlformats.org/drawingml/2006/main">
              <a:ext uri="{FF2B5EF4-FFF2-40B4-BE49-F238E27FC236}">
                <a16:creationId xmlns:a16="http://schemas.microsoft.com/office/drawing/2014/main" id="{45AE1B03-023F-41CE-8F1B-33961A34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73152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107" name="Google Shape;107;p11">
            <a:extLst xmlns:a="http://schemas.openxmlformats.org/drawingml/2006/main">
              <a:ext uri="{FF2B5EF4-FFF2-40B4-BE49-F238E27FC236}">
                <a16:creationId xmlns:a16="http://schemas.microsoft.com/office/drawing/2014/main" id="{A96098D0-80CB-48DA-9C86-8B27A3DE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7280"/>
            <a:ext cx="7315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"/>
              </a:spcAft>
              <a:defRPr sz="123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74C3C"/>
                </a:solidFill>
                <a:latin typeface="Calibri"/>
                <a:ea typeface="Calibri"/>
                <a:cs typeface="Calibri"/>
              </a:rPr>
              <a:t>오류 — 거래정지 종목을 ‘가격이 있다’고 오인</a:t>
            </a:r>
          </a:p>
          <a:p xmlns:a="http://schemas.openxmlformats.org/drawingml/2006/main">
            <a:pPr algn="l">
              <a:defRPr sz="123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38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더존비즈온(012510): 정지 기간에도 마지막 종가는 반복됐지만 시가·고가·저가·거래량은 0 → 7월 명단에 잘못 포함</a:t>
            </a:r>
          </a:p>
        </p:txBody>
      </p:sp>
      <p:sp>
        <p:nvSpPr>
          <p:cNvPr id="108" name="Google Shape;108;p11">
            <a:extLst xmlns:a="http://schemas.openxmlformats.org/drawingml/2006/main">
              <a:ext uri="{FF2B5EF4-FFF2-40B4-BE49-F238E27FC236}">
                <a16:creationId xmlns:a16="http://schemas.microsoft.com/office/drawing/2014/main" id="{85116D3E-5183-491D-929E-E0D21536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804672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2700" cmpd="sng">
            <a:solidFill>
              <a:srgbClr val="E0E0E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109" name="Google Shape;109;p11">
            <a:extLst xmlns:a="http://schemas.openxmlformats.org/drawingml/2006/main">
              <a:ext uri="{FF2B5EF4-FFF2-40B4-BE49-F238E27FC236}">
                <a16:creationId xmlns:a16="http://schemas.microsoft.com/office/drawing/2014/main" id="{43B0CE16-2FA9-4735-8C68-D01A7C68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73152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110" name="Google Shape;110;p11">
            <a:extLst xmlns:a="http://schemas.openxmlformats.org/drawingml/2006/main">
              <a:ext uri="{FF2B5EF4-FFF2-40B4-BE49-F238E27FC236}">
                <a16:creationId xmlns:a16="http://schemas.microsoft.com/office/drawing/2014/main" id="{0A09FBD8-77D2-48E5-ABBC-2D6143C6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4640"/>
            <a:ext cx="7315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"/>
              </a:spcAft>
              <a:defRPr sz="123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수정 — 실제 거래 가능 여부 확인 + 수동 주문</a:t>
            </a:r>
          </a:p>
          <a:p xmlns:a="http://schemas.openxmlformats.org/drawingml/2006/main">
            <a:pPr algn="l">
              <a:defRPr sz="123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38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신호일의 시가·고가·저가·종가와 거래량이 모두 0보다 큰 종목만 허용 · 자동 계산 결과는 실제 체결이 아님</a:t>
            </a:r>
          </a:p>
        </p:txBody>
      </p:sp>
    </p:spTree>
    <p:extLst>
      <p:ext uri="{BB962C8B-B14F-4D97-AF65-F5344CB8AC3E}">
        <p14:creationId xmlns:p14="http://schemas.microsoft.com/office/powerpoint/2010/main" val="106019757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2330BC9-829C-4269-A8FF-4A3DECCA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9C27B890-FADD-4AF6-8246-43DDF453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미국 무료 상위 500종목 전략은 대형주 지수를 못 이겼다</a:t>
            </a:r>
          </a:p>
        </p:txBody>
      </p:sp>
      <p:cxnSp>
        <p:nvCxnSpPr>
          <p:cNvPr id="41" name="Google Shape;29;p4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1EF3CF8A-E3B4-44F8-B8ED-54BC5E6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B등급 · 2021-01-04~2025-12-31 · 21</a:t>
            </a:r>
          </a:p>
        </p:txBody>
      </p:sp>
      <p:graphicFrame>
        <p:nvGraphicFramePr>
          <p:cNvPr id="43" name="Google Shape;31;p4"/>
          <p:cNvGraphicFramePr/>
          <p:nvPr/>
        </p:nvGraphicFramePr>
        <p:xfrm>
          <a:off xmlns:a="http://schemas.openxmlformats.org/drawingml/2006/main" x="365760" y="100584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{32CD161F-97BF-4DC4-BE34-3F26E5615511}</a:tableStyleId>
              </a:tblPr>
              <a:tblGrid>
                <a:gridCol w="1828800"/>
                <a:gridCol w="1097275"/>
                <a:gridCol w="1371600"/>
                <a:gridCol w="1371600"/>
                <a:gridCol w="1371600"/>
                <a:gridCol w="1371600"/>
              </a:tblGrid>
              <a:tr h="381000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주간 전략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연평균</a:t>
                      </a: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수익률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위험 대비</a:t>
                      </a: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수익 점수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최대</a:t>
                      </a: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낙폭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검증구간</a:t>
                      </a: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연평균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판정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주가상승 + 200일선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13.90%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0.71점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-24.08%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28.01%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대형주 지수보다 낮음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주가상승 · 방어 없음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14.59%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0.69점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-31.21%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36.92%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대형주 지수와 비슷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주가 + 이익성장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8.79%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0.54점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-24.81%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15.21%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수익 감소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주가 + 재무건전·이익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6.82%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0.45점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-25.79%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10.54%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가장 약함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미국 대형주 지수 추종상품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14.69%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0.89점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-24.50%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21.64%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비교 기준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</a:tr>
            </a:tbl>
          </a:graphicData>
        </a:graphic>
      </p:graphicFrame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4D9408C-70BD-4623-B903-CD935AD3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8046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C2F34915-C869-414F-B4B6-8A93DA34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7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170" b="1">
                <a:solidFill>
                  <a:srgbClr val="E74C3C"/>
                </a:solidFill>
                <a:latin typeface="Calibri"/>
                <a:ea typeface="Calibri"/>
                <a:cs typeface="Calibri"/>
              </a:rPr>
              <a:t>검증된 초과수익 없음</a:t>
            </a:r>
            <a:r>
              <a:rPr/>
              <a:t>    |    검증구간 약 2년(2024~25 강세장 국면)    |    미국 공식 주가·재무자료 결과는 아직 없음</a:t>
            </a:r>
          </a:p>
        </p:txBody>
      </p:sp>
    </p:spTree>
    <p:extLst>
      <p:ext uri="{BB962C8B-B14F-4D97-AF65-F5344CB8AC3E}">
        <p14:creationId xmlns:p14="http://schemas.microsoft.com/office/powerpoint/2010/main" val="2471733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12">
            <a:extLst xmlns:a="http://schemas.openxmlformats.org/drawingml/2006/main">
              <a:ext uri="{FF2B5EF4-FFF2-40B4-BE49-F238E27FC236}">
                <a16:creationId xmlns:a16="http://schemas.microsoft.com/office/drawing/2014/main" id="{5ABF0630-E927-423C-A4CF-04A73D82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117" name="Google Shape;117;p12">
            <a:extLst xmlns:a="http://schemas.openxmlformats.org/drawingml/2006/main">
              <a:ext uri="{FF2B5EF4-FFF2-40B4-BE49-F238E27FC236}">
                <a16:creationId xmlns:a16="http://schemas.microsoft.com/office/drawing/2014/main" id="{F82C91F1-C15C-4538-BBC8-E9D5F5BE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현재 결론은 강한 후보 하나와 세 가지 검증 과제다</a:t>
            </a:r>
          </a:p>
        </p:txBody>
      </p:sp>
      <p:cxnSp>
        <p:nvCxnSpPr>
          <p:cNvPr id="127" name="Google Shape;118;p12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" name="Google Shape;119;p12">
            <a:extLst xmlns:a="http://schemas.openxmlformats.org/drawingml/2006/main">
              <a:ext uri="{FF2B5EF4-FFF2-40B4-BE49-F238E27FC236}">
                <a16:creationId xmlns:a16="http://schemas.microsoft.com/office/drawing/2014/main" id="{BCA99200-9576-435B-B3CD-986FACC1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혼합등급 · 2026-07-19 · 22</a:t>
            </a:r>
          </a:p>
        </p:txBody>
      </p:sp>
      <p:sp>
        <p:nvSpPr>
          <p:cNvPr id="120" name="Google Shape;120;p12">
            <a:extLst xmlns:a="http://schemas.openxmlformats.org/drawingml/2006/main">
              <a:ext uri="{FF2B5EF4-FFF2-40B4-BE49-F238E27FC236}">
                <a16:creationId xmlns:a16="http://schemas.microsoft.com/office/drawing/2014/main" id="{D18332BA-F2F6-42A2-8CA5-B57F52C6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804672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</p:txBody>
      </p:sp>
      <p:sp>
        <p:nvSpPr>
          <p:cNvPr id="121" name="Google Shape;121;p12">
            <a:extLst xmlns:a="http://schemas.openxmlformats.org/drawingml/2006/main">
              <a:ext uri="{FF2B5EF4-FFF2-40B4-BE49-F238E27FC236}">
                <a16:creationId xmlns:a16="http://schemas.microsoft.com/office/drawing/2014/main" id="{8329C9FC-CE35-4C90-8EA8-927CBC75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88720"/>
            <a:ext cx="7315200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3"/>
              </a:spcAft>
              <a:defRPr sz="132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지금 채택</a:t>
            </a:r>
          </a:p>
          <a:p xmlns:a="http://schemas.openxmlformats.org/drawingml/2006/main">
            <a:pPr algn="l">
              <a:spcAft>
                <a:spcPts val="19"/>
              </a:spcAft>
              <a:defRPr sz="132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2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최근 1년 최고가 근접 · 시총 상위300 · 월 1회 15종목
기존 보유는 45위까지 유지 · 코스피 200일선 방어</a:t>
            </a:r>
          </a:p>
          <a:p xmlns:a="http://schemas.openxmlformats.org/drawingml/2006/main">
            <a:pPr algn="l">
              <a:spcBef>
                <a:spcPts val="2"/>
              </a:spcBef>
              <a:spcAft>
                <a:spcPts val="3"/>
              </a:spcAft>
              <a:defRPr sz="132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공통 적용</a:t>
            </a:r>
          </a:p>
          <a:p xmlns:a="http://schemas.openxmlformats.org/drawingml/2006/main">
            <a:pPr algn="l">
              <a:spcAft>
                <a:spcPts val="19"/>
              </a:spcAft>
              <a:defRPr sz="132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2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수익률보다 데이터 등급 우선 · 종가로 계산 → 다음 날 시가 주문
실제 거래 가능성·비용·공시 확인</a:t>
            </a:r>
          </a:p>
          <a:p xmlns:a="http://schemas.openxmlformats.org/drawingml/2006/main">
            <a:pPr algn="l">
              <a:spcBef>
                <a:spcPts val="2"/>
              </a:spcBef>
              <a:spcAft>
                <a:spcPts val="3"/>
              </a:spcAft>
              <a:defRPr sz="132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다음 검증</a:t>
            </a:r>
          </a:p>
          <a:p xmlns:a="http://schemas.openxmlformats.org/drawingml/2006/main">
            <a:pPr algn="l">
              <a:spcAft>
                <a:spcPts val="0"/>
              </a:spcAft>
              <a:defRPr sz="132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2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① 다른 시기와 추가 거래비용  ② 한국거래소 공식 원장
③ 미국 공식 주가·재무 데이터</a:t>
            </a:r>
          </a:p>
        </p:txBody>
      </p:sp>
    </p:spTree>
    <p:extLst>
      <p:ext uri="{BB962C8B-B14F-4D97-AF65-F5344CB8AC3E}">
        <p14:creationId xmlns:p14="http://schemas.microsoft.com/office/powerpoint/2010/main" val="152102890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2026-07-19T06:53:03.3350000Z</dcterms:created>
  <dcterms:modified xsi:type="dcterms:W3CDTF">2026-07-19T06:53:03.3350000Z</dcterms:modified>
</coreProperties>
</file>