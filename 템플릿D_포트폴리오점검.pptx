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CD161F-97BF-4DC4-BE34-3F26E5615511}">
  <a:tblStyle styleId="{32CD161F-97BF-4DC4-BE34-3F26E561551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d72e53be2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g3d72e53be2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d72e53be2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666bdf4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d9666bdf4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d9666bdf4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9666bdf45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d9666bdf45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d9666bdf45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9666bdf45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d9666bdf45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d9666bdf45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포트폴리오 중간점검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E8F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D5E8F0"/>
                </a:solidFill>
                <a:latin typeface="Calibri"/>
                <a:ea typeface="Calibri"/>
                <a:cs typeface="Calibri"/>
                <a:sym typeface="Calibri"/>
              </a:rPr>
              <a:t>템플릿 D: 분기 리뷰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731520" y="3017520"/>
            <a:ext cx="1828800" cy="0"/>
          </a:xfrm>
          <a:prstGeom prst="straightConnector1">
            <a:avLst/>
          </a:prstGeom>
          <a:noFill/>
          <a:ln cap="flat" cmpd="sng" w="381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발표자:                    |    점검일:                    |    투자 시작일: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200"/>
              <a:buFont typeface="Arial Black"/>
              <a:buNone/>
            </a:pPr>
            <a:r>
              <a:rPr b="1" lang="en-US" sz="2200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직전 분기 </a:t>
            </a:r>
            <a:r>
              <a:rPr b="1" i="0" lang="en-US" sz="22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포트폴리오 현황 (3</a:t>
            </a:r>
            <a:r>
              <a:rPr b="1" lang="en-US" sz="2200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달전 점검표 활용하기)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4"/>
          <p:cNvCxnSpPr/>
          <p:nvPr/>
        </p:nvCxnSpPr>
        <p:spPr>
          <a:xfrm>
            <a:off x="548640" y="731520"/>
            <a:ext cx="1371600" cy="0"/>
          </a:xfrm>
          <a:prstGeom prst="straightConnector1">
            <a:avLst/>
          </a:prstGeom>
          <a:noFill/>
          <a:ln cap="flat" cmpd="sng" w="254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4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" name="Google Shape;31;p4"/>
          <p:cNvGraphicFramePr/>
          <p:nvPr/>
        </p:nvGraphicFramePr>
        <p:xfrm>
          <a:off x="36576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{32CD161F-97BF-4DC4-BE34-3F26E5615511}</a:tableStyleId>
              </a:tblPr>
              <a:tblGrid>
                <a:gridCol w="1828800"/>
                <a:gridCol w="1097275"/>
                <a:gridCol w="1371600"/>
                <a:gridCol w="1371600"/>
                <a:gridCol w="1371600"/>
                <a:gridCol w="13716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종목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비중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평균단가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현재가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수익률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최초매수시점</a:t>
                      </a:r>
                      <a:br>
                        <a:rPr b="1" lang="en-US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보유기간)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[종목명]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[주]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[종목명]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[주]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[종목명]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[주]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[종목명]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[주]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[종목명]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[주]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</a:tr>
            </a:tbl>
          </a:graphicData>
        </a:graphic>
      </p:graphicFrame>
      <p:sp>
        <p:nvSpPr>
          <p:cNvPr id="32" name="Google Shape;32;p4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914400" y="411480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총 수익률: </a:t>
            </a:r>
            <a:r>
              <a:rPr b="1" i="0" lang="en-US" sz="22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[ %]</a:t>
            </a:r>
            <a:r>
              <a:rPr b="0" i="0" lang="en-US" sz="14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    벤치마크 대비: </a:t>
            </a:r>
            <a:r>
              <a:rPr b="1" i="0" lang="en-US" sz="2200" u="none" cap="none" strike="noStrike">
                <a:solidFill>
                  <a:srgbClr val="F39C12"/>
                </a:solidFill>
                <a:latin typeface="Arial Black"/>
                <a:ea typeface="Arial Black"/>
                <a:cs typeface="Arial Black"/>
                <a:sym typeface="Arial Black"/>
              </a:rPr>
              <a:t>[+/- %p]</a:t>
            </a:r>
            <a:r>
              <a:rPr b="0" i="0" lang="en-US" sz="14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    현금 비중: </a:t>
            </a:r>
            <a:r>
              <a:rPr b="1" i="0" lang="en-US" sz="22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[ %]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0"/>
            <a:ext cx="9144000" cy="36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548640" y="182880"/>
            <a:ext cx="731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현재 포트폴리오 현황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5"/>
          <p:cNvCxnSpPr/>
          <p:nvPr/>
        </p:nvCxnSpPr>
        <p:spPr>
          <a:xfrm>
            <a:off x="548640" y="731520"/>
            <a:ext cx="1371600" cy="0"/>
          </a:xfrm>
          <a:prstGeom prst="straightConnector1">
            <a:avLst/>
          </a:prstGeom>
          <a:noFill/>
          <a:ln cap="flat" cmpd="sng" w="254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5"/>
          <p:cNvSpPr/>
          <p:nvPr/>
        </p:nvSpPr>
        <p:spPr>
          <a:xfrm>
            <a:off x="8229600" y="4663440"/>
            <a:ext cx="54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" name="Google Shape;43;p5"/>
          <p:cNvGraphicFramePr/>
          <p:nvPr/>
        </p:nvGraphicFramePr>
        <p:xfrm>
          <a:off x="36576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{32CD161F-97BF-4DC4-BE34-3F26E5615511}</a:tableStyleId>
              </a:tblPr>
              <a:tblGrid>
                <a:gridCol w="1828800"/>
                <a:gridCol w="1097275"/>
                <a:gridCol w="1371600"/>
                <a:gridCol w="1371600"/>
                <a:gridCol w="1371600"/>
                <a:gridCol w="13716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종목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비중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평균단가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현재가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수익률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최초매수시점</a:t>
                      </a:r>
                      <a:br>
                        <a:rPr b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(보유기간)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[종목명]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[주]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[종목명]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[주]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[종목명]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[주]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[종목명]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[주]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[종목명]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%]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[주]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8"/>
                    </a:solidFill>
                  </a:tcPr>
                </a:tc>
              </a:tr>
            </a:tbl>
          </a:graphicData>
        </a:graphic>
      </p:graphicFrame>
      <p:sp>
        <p:nvSpPr>
          <p:cNvPr id="44" name="Google Shape;44;p5"/>
          <p:cNvSpPr/>
          <p:nvPr/>
        </p:nvSpPr>
        <p:spPr>
          <a:xfrm>
            <a:off x="548640" y="4023360"/>
            <a:ext cx="8046600" cy="8229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914400" y="4114800"/>
            <a:ext cx="7498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총 수익률: </a:t>
            </a:r>
            <a:r>
              <a:rPr b="1" i="0" lang="en-US" sz="22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[ %]</a:t>
            </a:r>
            <a:r>
              <a:rPr b="0" i="0" lang="en-US" sz="14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    벤치마크 대비: </a:t>
            </a:r>
            <a:r>
              <a:rPr b="1" i="0" lang="en-US" sz="2200" u="none" cap="none" strike="noStrike">
                <a:solidFill>
                  <a:srgbClr val="F39C12"/>
                </a:solidFill>
                <a:latin typeface="Arial Black"/>
                <a:ea typeface="Arial Black"/>
                <a:cs typeface="Arial Black"/>
                <a:sym typeface="Arial Black"/>
              </a:rPr>
              <a:t>[+/- %p]</a:t>
            </a:r>
            <a:r>
              <a:rPr b="0" i="0" lang="en-US" sz="14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    현금 비중: </a:t>
            </a:r>
            <a:r>
              <a:rPr b="1" i="0" lang="en-US" sz="22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[ %]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종목별 논리 유지 / 훼손 판정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6"/>
          <p:cNvCxnSpPr/>
          <p:nvPr/>
        </p:nvCxnSpPr>
        <p:spPr>
          <a:xfrm>
            <a:off x="548640" y="731520"/>
            <a:ext cx="1371600" cy="0"/>
          </a:xfrm>
          <a:prstGeom prst="straightConnector1">
            <a:avLst/>
          </a:prstGeom>
          <a:noFill/>
          <a:ln cap="flat" cmpd="sng" w="254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6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" name="Google Shape;55;p6"/>
          <p:cNvGraphicFramePr/>
          <p:nvPr/>
        </p:nvGraphicFramePr>
        <p:xfrm>
          <a:off x="36576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{32CD161F-97BF-4DC4-BE34-3F26E5615511}</a:tableStyleId>
              </a:tblPr>
              <a:tblGrid>
                <a:gridCol w="1645925"/>
                <a:gridCol w="2560325"/>
                <a:gridCol w="2560325"/>
                <a:gridCol w="16459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종목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매수 당시 논리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현재 상태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판정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[종목명]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[핵심 논리 한줄]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[현재 상황]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[유지/훼손/부분훼손]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[종목명]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[핵심 논리 한줄]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[현재 상황]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[유지/훼손/부분훼손]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[종목명]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[핵심 논리 한줄]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[현재 상황]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[유지/훼손/부분훼손]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[종목명]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[핵심 논리 한줄]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[현재 상황]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[유지/훼손/부분훼손]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[종목명]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[핵심 논리 한줄]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[현재 상황]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[유지/훼손/부분훼손]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0" y="0"/>
            <a:ext cx="9144000" cy="36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548640" y="182880"/>
            <a:ext cx="731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200"/>
              <a:buFont typeface="Arial Black"/>
              <a:buNone/>
            </a:pPr>
            <a:r>
              <a:rPr b="1" lang="en-US" sz="2200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포트폴리오 변경 리뷰 - 잘한점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7"/>
          <p:cNvCxnSpPr/>
          <p:nvPr/>
        </p:nvCxnSpPr>
        <p:spPr>
          <a:xfrm>
            <a:off x="548640" y="731520"/>
            <a:ext cx="1371600" cy="0"/>
          </a:xfrm>
          <a:prstGeom prst="straightConnector1">
            <a:avLst/>
          </a:prstGeom>
          <a:noFill/>
          <a:ln cap="flat" cmpd="sng" w="254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7"/>
          <p:cNvSpPr/>
          <p:nvPr/>
        </p:nvSpPr>
        <p:spPr>
          <a:xfrm>
            <a:off x="8229600" y="4663440"/>
            <a:ext cx="54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0" y="0"/>
            <a:ext cx="9144000" cy="36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8"/>
          <p:cNvSpPr/>
          <p:nvPr/>
        </p:nvSpPr>
        <p:spPr>
          <a:xfrm>
            <a:off x="548640" y="182880"/>
            <a:ext cx="731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200"/>
              <a:buFont typeface="Arial Black"/>
              <a:buNone/>
            </a:pPr>
            <a:r>
              <a:rPr b="1" lang="en-US" sz="2200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포트폴리오 변경 리뷰 - </a:t>
            </a:r>
            <a:r>
              <a:rPr b="1" lang="en-US" sz="2200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실수 / 개선이 필요 한 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8"/>
          <p:cNvCxnSpPr/>
          <p:nvPr/>
        </p:nvCxnSpPr>
        <p:spPr>
          <a:xfrm>
            <a:off x="548640" y="731520"/>
            <a:ext cx="1371600" cy="0"/>
          </a:xfrm>
          <a:prstGeom prst="straightConnector1">
            <a:avLst/>
          </a:prstGeom>
          <a:noFill/>
          <a:ln cap="flat" cmpd="sng" w="254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8"/>
          <p:cNvSpPr/>
          <p:nvPr/>
        </p:nvSpPr>
        <p:spPr>
          <a:xfrm>
            <a:off x="8229600" y="4663440"/>
            <a:ext cx="54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/>
          <p:nvPr/>
        </p:nvSpPr>
        <p:spPr>
          <a:xfrm>
            <a:off x="0" y="0"/>
            <a:ext cx="9144000" cy="36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9"/>
          <p:cNvSpPr/>
          <p:nvPr/>
        </p:nvSpPr>
        <p:spPr>
          <a:xfrm>
            <a:off x="548640" y="182880"/>
            <a:ext cx="731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200"/>
              <a:buFont typeface="Arial Black"/>
              <a:buNone/>
            </a:pPr>
            <a:r>
              <a:rPr b="1" lang="en-US" sz="2200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포트폴리오 변경 리뷰 - </a:t>
            </a:r>
            <a:r>
              <a:rPr b="1" lang="en-US" sz="2200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아직 판단이 잘 안되는 부분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9"/>
          <p:cNvCxnSpPr/>
          <p:nvPr/>
        </p:nvCxnSpPr>
        <p:spPr>
          <a:xfrm>
            <a:off x="548640" y="731520"/>
            <a:ext cx="1371600" cy="0"/>
          </a:xfrm>
          <a:prstGeom prst="straightConnector1">
            <a:avLst/>
          </a:prstGeom>
          <a:noFill/>
          <a:ln cap="flat" cmpd="sng" w="254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9"/>
          <p:cNvSpPr/>
          <p:nvPr/>
        </p:nvSpPr>
        <p:spPr>
          <a:xfrm>
            <a:off x="8229600" y="4663440"/>
            <a:ext cx="54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0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리스크 집중도 점검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0"/>
          <p:cNvCxnSpPr/>
          <p:nvPr/>
        </p:nvCxnSpPr>
        <p:spPr>
          <a:xfrm>
            <a:off x="548640" y="731520"/>
            <a:ext cx="1371600" cy="0"/>
          </a:xfrm>
          <a:prstGeom prst="straightConnector1">
            <a:avLst/>
          </a:prstGeom>
          <a:noFill/>
          <a:ln cap="flat" cmpd="sng" w="254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10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548640" y="1005840"/>
            <a:ext cx="3840480" cy="36576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0"/>
          <p:cNvSpPr/>
          <p:nvPr/>
        </p:nvSpPr>
        <p:spPr>
          <a:xfrm>
            <a:off x="822960" y="1188720"/>
            <a:ext cx="3291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섹터 편중도</a:t>
            </a:r>
            <a:br>
              <a:rPr b="1" i="0" lang="en-US" sz="16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1" i="0" lang="en-US" sz="16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[섹터별 비중 작성]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IT: [ %]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금융: [ %]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산업재: [ %]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기타: [ %]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4754880" y="1005840"/>
            <a:ext cx="3840480" cy="36576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0"/>
          <p:cNvSpPr/>
          <p:nvPr/>
        </p:nvSpPr>
        <p:spPr>
          <a:xfrm>
            <a:off x="5029200" y="1188720"/>
            <a:ext cx="3291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기타 집중 리스크</a:t>
            </a:r>
            <a:br>
              <a:rPr b="1" i="0" lang="en-US" sz="16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1" i="0" lang="en-US" sz="16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국가 편중: [한국/미국 비중]</a:t>
            </a:r>
            <a:b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테마 편중: [특정 테마 비중]</a:t>
            </a:r>
            <a:b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상관관계: [높은 상관 종목 쌍]</a:t>
            </a:r>
            <a:b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교체 후보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11"/>
          <p:cNvCxnSpPr/>
          <p:nvPr/>
        </p:nvCxnSpPr>
        <p:spPr>
          <a:xfrm>
            <a:off x="548640" y="731520"/>
            <a:ext cx="1371600" cy="0"/>
          </a:xfrm>
          <a:prstGeom prst="straightConnector1">
            <a:avLst/>
          </a:prstGeom>
          <a:noFill/>
          <a:ln cap="flat" cmpd="sng" w="254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1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1"/>
          <p:cNvSpPr/>
          <p:nvPr/>
        </p:nvSpPr>
        <p:spPr>
          <a:xfrm>
            <a:off x="548640" y="1005840"/>
            <a:ext cx="73152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"/>
          <p:cNvSpPr/>
          <p:nvPr/>
        </p:nvSpPr>
        <p:spPr>
          <a:xfrm>
            <a:off x="914400" y="109728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E74C3C"/>
                </a:solidFill>
                <a:latin typeface="Arial Black"/>
                <a:ea typeface="Arial Black"/>
                <a:cs typeface="Arial Black"/>
                <a:sym typeface="Arial Black"/>
              </a:rPr>
              <a:t>매도 검토 종목</a:t>
            </a:r>
            <a:br>
              <a:rPr b="1" i="0" lang="en-US" sz="1500" u="none" cap="none" strike="noStrike">
                <a:solidFill>
                  <a:srgbClr val="E74C3C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[종목명] — [매도 사유: 논리 훼손/기회비용/비중 과다 등]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548640" y="2743200"/>
            <a:ext cx="8046720" cy="1463040"/>
          </a:xfrm>
          <a:prstGeom prst="rect">
            <a:avLst/>
          </a:prstGeom>
          <a:solidFill>
            <a:srgbClr val="F0FAF4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1"/>
          <p:cNvSpPr/>
          <p:nvPr/>
        </p:nvSpPr>
        <p:spPr>
          <a:xfrm>
            <a:off x="548640" y="2743200"/>
            <a:ext cx="73152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/>
          <p:nvPr/>
        </p:nvSpPr>
        <p:spPr>
          <a:xfrm>
            <a:off x="914400" y="283464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27AE60"/>
                </a:solidFill>
                <a:latin typeface="Arial Black"/>
                <a:ea typeface="Arial Black"/>
                <a:cs typeface="Arial Black"/>
                <a:sym typeface="Arial Black"/>
              </a:rPr>
              <a:t>편입 검토 종목</a:t>
            </a:r>
            <a:br>
              <a:rPr b="1" i="0" lang="en-US" sz="1500" u="none" cap="none" strike="noStrike">
                <a:solidFill>
                  <a:srgbClr val="27AE6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[종목명] — [편입 사유: 밸류매력/촉매/섹터분산 등]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2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B3A5C"/>
                </a:solidFill>
                <a:latin typeface="Arial Black"/>
                <a:ea typeface="Arial Black"/>
                <a:cs typeface="Arial Black"/>
                <a:sym typeface="Arial Black"/>
              </a:rPr>
              <a:t>다음 분기 방향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12"/>
          <p:cNvCxnSpPr/>
          <p:nvPr/>
        </p:nvCxnSpPr>
        <p:spPr>
          <a:xfrm>
            <a:off x="548640" y="731520"/>
            <a:ext cx="1371600" cy="0"/>
          </a:xfrm>
          <a:prstGeom prst="straightConnector1">
            <a:avLst/>
          </a:prstGeom>
          <a:noFill/>
          <a:ln cap="flat" cmpd="sng" w="254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2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2"/>
          <p:cNvSpPr/>
          <p:nvPr/>
        </p:nvSpPr>
        <p:spPr>
          <a:xfrm>
            <a:off x="914400" y="1188720"/>
            <a:ext cx="73152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39C12"/>
                </a:solidFill>
                <a:latin typeface="Arial Black"/>
                <a:ea typeface="Arial Black"/>
                <a:cs typeface="Arial Black"/>
                <a:sym typeface="Arial Black"/>
              </a:rPr>
              <a:t>비중 조정 계획</a:t>
            </a:r>
            <a:br>
              <a:rPr b="1" i="0" lang="en-US" sz="1600" u="none" cap="none" strike="noStrike">
                <a:solidFill>
                  <a:srgbClr val="F39C1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[구체적 비중 변경 계획]</a:t>
            </a:r>
            <a:b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39C12"/>
                </a:solidFill>
                <a:latin typeface="Arial Black"/>
                <a:ea typeface="Arial Black"/>
                <a:cs typeface="Arial Black"/>
                <a:sym typeface="Arial Black"/>
              </a:rPr>
              <a:t>신규 편입 우선순위</a:t>
            </a:r>
            <a:br>
              <a:rPr b="1" i="0" lang="en-US" sz="1600" u="none" cap="none" strike="noStrike">
                <a:solidFill>
                  <a:srgbClr val="F39C1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[1순위, 2순위, 조건]</a:t>
            </a:r>
            <a:b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39C12"/>
                </a:solidFill>
                <a:latin typeface="Arial Black"/>
                <a:ea typeface="Arial Black"/>
                <a:cs typeface="Arial Black"/>
                <a:sym typeface="Arial Black"/>
              </a:rPr>
              <a:t>현금 비중 목표</a:t>
            </a:r>
            <a:br>
              <a:rPr b="1" i="0" lang="en-US" sz="1600" u="none" cap="none" strike="noStrike">
                <a:solidFill>
                  <a:srgbClr val="F39C1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[목표 현금 비중과 이유]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