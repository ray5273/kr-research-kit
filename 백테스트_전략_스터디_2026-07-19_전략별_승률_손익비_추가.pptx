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148261a44c42d0" /><Relationship Type="http://schemas.openxmlformats.org/officeDocument/2006/relationships/extended-properties" Target="/docProps/app.xml" Id="R5c9de314eccb4619" /><Relationship Type="http://schemas.openxmlformats.org/officeDocument/2006/relationships/officeDocument" Target="/ppt/presentation.xml" Id="Rb27669b5714740d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89f2db303394de9"/>
  </p:sldMasterIdLst>
  <p:notesMasterIdLst>
    <p:notesMasterId xmlns:r="http://schemas.openxmlformats.org/officeDocument/2006/relationships" r:id="R7d9924f766c642be"/>
  </p:notesMasterIdLst>
  <p:sldIdLst>
    <p:sldId xmlns:r="http://schemas.openxmlformats.org/officeDocument/2006/relationships" id="256" r:id="Rf9176e14ae2f4e78"/>
    <p:sldId xmlns:r="http://schemas.openxmlformats.org/officeDocument/2006/relationships" id="257" r:id="Rfd86466126e1467b"/>
    <p:sldId xmlns:r="http://schemas.openxmlformats.org/officeDocument/2006/relationships" id="258" r:id="R4855fa370be24150"/>
    <p:sldId xmlns:r="http://schemas.openxmlformats.org/officeDocument/2006/relationships" id="259" r:id="R7e0193009d154bf6"/>
    <p:sldId xmlns:r="http://schemas.openxmlformats.org/officeDocument/2006/relationships" id="260" r:id="R5c6f0d2001d94f03"/>
    <p:sldId xmlns:r="http://schemas.openxmlformats.org/officeDocument/2006/relationships" id="261" r:id="R6d62db0d41b44d4a"/>
    <p:sldId xmlns:r="http://schemas.openxmlformats.org/officeDocument/2006/relationships" id="262" r:id="Rc87aefcfbef64a26"/>
    <p:sldId xmlns:r="http://schemas.openxmlformats.org/officeDocument/2006/relationships" id="263" r:id="Rd0863af0afe4445e"/>
    <p:sldId xmlns:r="http://schemas.openxmlformats.org/officeDocument/2006/relationships" id="264" r:id="R021e7bec2a184597"/>
    <p:sldId xmlns:r="http://schemas.openxmlformats.org/officeDocument/2006/relationships" id="265" r:id="R6aed2277005c45ae"/>
    <p:sldId xmlns:r="http://schemas.openxmlformats.org/officeDocument/2006/relationships" id="266" r:id="R798919244ba34467"/>
    <p:sldId xmlns:r="http://schemas.openxmlformats.org/officeDocument/2006/relationships" id="267" r:id="R53c715c49af44f04"/>
    <p:sldId xmlns:r="http://schemas.openxmlformats.org/officeDocument/2006/relationships" id="268" r:id="R9ebe16469d044d00"/>
    <p:sldId xmlns:r="http://schemas.openxmlformats.org/officeDocument/2006/relationships" id="269" r:id="Rd96cb7329cb545f1"/>
    <p:sldId xmlns:r="http://schemas.openxmlformats.org/officeDocument/2006/relationships" id="270" r:id="Ra2767ea36cf84fbb"/>
    <p:sldId xmlns:r="http://schemas.openxmlformats.org/officeDocument/2006/relationships" id="271" r:id="Ra37aeeedf05742a2"/>
    <p:sldId xmlns:r="http://schemas.openxmlformats.org/officeDocument/2006/relationships" id="272" r:id="R54c2cb09812344f4"/>
    <p:sldId xmlns:r="http://schemas.openxmlformats.org/officeDocument/2006/relationships" id="273" r:id="R236ed953db844b86"/>
    <p:sldId xmlns:r="http://schemas.openxmlformats.org/officeDocument/2006/relationships" id="274" r:id="Re098812c4d174d4a"/>
    <p:sldId xmlns:r="http://schemas.openxmlformats.org/officeDocument/2006/relationships" id="275" r:id="R4fa2440430e348bf"/>
    <p:sldId xmlns:r="http://schemas.openxmlformats.org/officeDocument/2006/relationships" id="276" r:id="Rb486f6febb814b9f"/>
    <p:sldId xmlns:r="http://schemas.openxmlformats.org/officeDocument/2006/relationships" id="277" r:id="Rff7f3b83a1f846c6"/>
    <p:sldId xmlns:r="http://schemas.openxmlformats.org/officeDocument/2006/relationships" id="278" r:id="Ra0781e1078294dd5"/>
    <p:sldId xmlns:r="http://schemas.openxmlformats.org/officeDocument/2006/relationships" id="279" r:id="Rd30bd7e308294ca3"/>
    <p:sldId xmlns:r="http://schemas.openxmlformats.org/officeDocument/2006/relationships" id="280" r:id="R6ab19689f6f74597"/>
    <p:sldId xmlns:r="http://schemas.openxmlformats.org/officeDocument/2006/relationships" id="281" r:id="Rac4a3b84017d4c80"/>
  </p:sldIdLst>
  <p:sldSz cx="9144000" cy="5143500"/>
  <p:notesSz cx="6858000" cy="9144000"/>
  <p:embeddedFontLst>
    <p:embeddedFont>
      <p:font typeface="Arial Black"/>
      <p:regular xmlns:r="http://schemas.openxmlformats.org/officeDocument/2006/relationships" r:id="R8e1053bd61e64b7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32CD161F-97BF-4DC4-BE34-3F26E5615511}">
  <a:tblStyle styleId="{32CD161F-97BF-4DC4-BE34-3F26E56155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1da902c1af4503" /><Relationship Type="http://schemas.openxmlformats.org/officeDocument/2006/relationships/slideMaster" Target="/ppt/slideMasters/slideMaster1.xml" Id="R789f2db303394de9" /><Relationship Type="http://schemas.openxmlformats.org/officeDocument/2006/relationships/notesMaster" Target="/ppt/notesMasters/notesMaster1.xml" Id="R7d9924f766c642be" /><Relationship Type="http://schemas.openxmlformats.org/officeDocument/2006/relationships/presProps" Target="/ppt/presProps.xml" Id="R141a5b8d79d146cf" /><Relationship Type="http://schemas.openxmlformats.org/officeDocument/2006/relationships/tableStyles" Target="/ppt/tableStyles.xml" Id="R1e4bbf87998546f9" /><Relationship Type="http://schemas.openxmlformats.org/officeDocument/2006/relationships/font" Target="/ppt/fonts/font.dat" Id="R8e1053bd61e64b76" /><Relationship Type="http://schemas.openxmlformats.org/officeDocument/2006/relationships/slide" Target="/ppt/slides/slide1.xml" Id="Rf9176e14ae2f4e78" /><Relationship Type="http://schemas.openxmlformats.org/officeDocument/2006/relationships/slide" Target="/ppt/slides/slide2.xml" Id="Rfd86466126e1467b" /><Relationship Type="http://schemas.openxmlformats.org/officeDocument/2006/relationships/slide" Target="/ppt/slides/slide3.xml" Id="R4855fa370be24150" /><Relationship Type="http://schemas.openxmlformats.org/officeDocument/2006/relationships/slide" Target="/ppt/slides/slide4.xml" Id="R7e0193009d154bf6" /><Relationship Type="http://schemas.openxmlformats.org/officeDocument/2006/relationships/slide" Target="/ppt/slides/slide5.xml" Id="R5c6f0d2001d94f03" /><Relationship Type="http://schemas.openxmlformats.org/officeDocument/2006/relationships/slide" Target="/ppt/slides/slide6.xml" Id="R6d62db0d41b44d4a" /><Relationship Type="http://schemas.openxmlformats.org/officeDocument/2006/relationships/slide" Target="/ppt/slides/slide7.xml" Id="Rc87aefcfbef64a26" /><Relationship Type="http://schemas.openxmlformats.org/officeDocument/2006/relationships/slide" Target="/ppt/slides/slide8.xml" Id="Rd0863af0afe4445e" /><Relationship Type="http://schemas.openxmlformats.org/officeDocument/2006/relationships/slide" Target="/ppt/slides/slide9.xml" Id="R021e7bec2a184597" /><Relationship Type="http://schemas.openxmlformats.org/officeDocument/2006/relationships/slide" Target="/ppt/slides/slide10.xml" Id="R6aed2277005c45ae" /><Relationship Type="http://schemas.openxmlformats.org/officeDocument/2006/relationships/slide" Target="/ppt/slides/slide11.xml" Id="R798919244ba34467" /><Relationship Type="http://schemas.openxmlformats.org/officeDocument/2006/relationships/slide" Target="/ppt/slides/slide12.xml" Id="R53c715c49af44f04" /><Relationship Type="http://schemas.openxmlformats.org/officeDocument/2006/relationships/slide" Target="/ppt/slides/slide13.xml" Id="R9ebe16469d044d00" /><Relationship Type="http://schemas.openxmlformats.org/officeDocument/2006/relationships/slide" Target="/ppt/slides/slide14.xml" Id="Rd96cb7329cb545f1" /><Relationship Type="http://schemas.openxmlformats.org/officeDocument/2006/relationships/slide" Target="/ppt/slides/slide15.xml" Id="Ra2767ea36cf84fbb" /><Relationship Type="http://schemas.openxmlformats.org/officeDocument/2006/relationships/slide" Target="/ppt/slides/slide16.xml" Id="Ra37aeeedf05742a2" /><Relationship Type="http://schemas.openxmlformats.org/officeDocument/2006/relationships/slide" Target="/ppt/slides/slide17.xml" Id="R54c2cb09812344f4" /><Relationship Type="http://schemas.openxmlformats.org/officeDocument/2006/relationships/slide" Target="/ppt/slides/slide18.xml" Id="R236ed953db844b86" /><Relationship Type="http://schemas.openxmlformats.org/officeDocument/2006/relationships/slide" Target="/ppt/slides/slide19.xml" Id="Re098812c4d174d4a" /><Relationship Type="http://schemas.openxmlformats.org/officeDocument/2006/relationships/slide" Target="/ppt/slides/slide20.xml" Id="R4fa2440430e348bf" /><Relationship Type="http://schemas.openxmlformats.org/officeDocument/2006/relationships/slide" Target="/ppt/slides/slide21.xml" Id="Rb486f6febb814b9f" /><Relationship Type="http://schemas.openxmlformats.org/officeDocument/2006/relationships/slide" Target="/ppt/slides/slide22.xml" Id="Rff7f3b83a1f846c6" /><Relationship Type="http://schemas.openxmlformats.org/officeDocument/2006/relationships/slide" Target="/ppt/slides/slide23.xml" Id="Ra0781e1078294dd5" /><Relationship Type="http://schemas.openxmlformats.org/officeDocument/2006/relationships/slide" Target="/ppt/slides/slide24.xml" Id="Rd30bd7e308294ca3" /><Relationship Type="http://schemas.openxmlformats.org/officeDocument/2006/relationships/slide" Target="/ppt/slides/slide25.xml" Id="R6ab19689f6f74597" /><Relationship Type="http://schemas.openxmlformats.org/officeDocument/2006/relationships/slide" Target="/ppt/slides/slide26.xml" Id="Rac4a3b84017d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15f49788d748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5f9aa806cf4df6" /><Relationship Type="http://schemas.openxmlformats.org/officeDocument/2006/relationships/notesMaster" Target="/ppt/notesMasters/notesMaster1.xml" Id="Rf8eabe3d891a48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46e2294881441a" /><Relationship Type="http://schemas.openxmlformats.org/officeDocument/2006/relationships/notesMaster" Target="/ppt/notesMasters/notesMaster1.xml" Id="R124af8d30d554c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79f01e85143b4" /><Relationship Type="http://schemas.openxmlformats.org/officeDocument/2006/relationships/notesMaster" Target="/ppt/notesMasters/notesMaster1.xml" Id="R3b0ddcae424a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7ff2c69cf4f0e" /><Relationship Type="http://schemas.openxmlformats.org/officeDocument/2006/relationships/notesMaster" Target="/ppt/notesMasters/notesMaster1.xml" Id="R69c63d90dcce4b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bfcc9c7b204c55" /><Relationship Type="http://schemas.openxmlformats.org/officeDocument/2006/relationships/notesMaster" Target="/ppt/notesMasters/notesMaster1.xml" Id="R84628e651b3144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6ffb2a14ea4488" /><Relationship Type="http://schemas.openxmlformats.org/officeDocument/2006/relationships/notesMaster" Target="/ppt/notesMasters/notesMaster1.xml" Id="R9e31d927fb904a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648f7496642d8" /><Relationship Type="http://schemas.openxmlformats.org/officeDocument/2006/relationships/notesMaster" Target="/ppt/notesMasters/notesMaster1.xml" Id="Rb23147cbd9f247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99d24abb4e4a4d" /><Relationship Type="http://schemas.openxmlformats.org/officeDocument/2006/relationships/notesMaster" Target="/ppt/notesMasters/notesMaster1.xml" Id="R7d6a7cd39a9b4f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ae5324baa942fe" /><Relationship Type="http://schemas.openxmlformats.org/officeDocument/2006/relationships/notesMaster" Target="/ppt/notesMasters/notesMaster1.xml" Id="R54a9631d399946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457b8aac0d4741" /><Relationship Type="http://schemas.openxmlformats.org/officeDocument/2006/relationships/notesMaster" Target="/ppt/notesMasters/notesMaster1.xml" Id="Rf508ae96784b4d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2374645ef34f2c" /><Relationship Type="http://schemas.openxmlformats.org/officeDocument/2006/relationships/notesMaster" Target="/ppt/notesMasters/notesMaster1.xml" Id="R7eea816b80884c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82e237e1d44e71" /><Relationship Type="http://schemas.openxmlformats.org/officeDocument/2006/relationships/notesMaster" Target="/ppt/notesMasters/notesMaster1.xml" Id="Ra8db373c2f7240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6544b4681a44bd" /><Relationship Type="http://schemas.openxmlformats.org/officeDocument/2006/relationships/notesMaster" Target="/ppt/notesMasters/notesMaster1.xml" Id="R17362432691d4c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4acac9c2c74d78" /><Relationship Type="http://schemas.openxmlformats.org/officeDocument/2006/relationships/notesMaster" Target="/ppt/notesMasters/notesMaster1.xml" Id="R214e7eb66ae044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ddc015b01c4089" /><Relationship Type="http://schemas.openxmlformats.org/officeDocument/2006/relationships/notesMaster" Target="/ppt/notesMasters/notesMaster1.xml" Id="R74a460f302b949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1943d84bb2469e" /><Relationship Type="http://schemas.openxmlformats.org/officeDocument/2006/relationships/notesMaster" Target="/ppt/notesMasters/notesMaster1.xml" Id="Re3c3073df2ba44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ec2ff22f3c4c89" /><Relationship Type="http://schemas.openxmlformats.org/officeDocument/2006/relationships/notesMaster" Target="/ppt/notesMasters/notesMaster1.xml" Id="Rba44e141d2834e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ebb43216b5434f" /><Relationship Type="http://schemas.openxmlformats.org/officeDocument/2006/relationships/notesMaster" Target="/ppt/notesMasters/notesMaster1.xml" Id="Rb32f94245dda47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26c2dad1c54020" /><Relationship Type="http://schemas.openxmlformats.org/officeDocument/2006/relationships/notesMaster" Target="/ppt/notesMasters/notesMaster1.xml" Id="Rc8412101c36b4e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e52a2fae924578" /><Relationship Type="http://schemas.openxmlformats.org/officeDocument/2006/relationships/notesMaster" Target="/ppt/notesMasters/notesMaster1.xml" Id="R55754b359ccf45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b81bdfe88b4146" /><Relationship Type="http://schemas.openxmlformats.org/officeDocument/2006/relationships/notesMaster" Target="/ppt/notesMasters/notesMaster1.xml" Id="Rb4b5c7d453c742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e17fed650a41d9" /><Relationship Type="http://schemas.openxmlformats.org/officeDocument/2006/relationships/notesMaster" Target="/ppt/notesMasters/notesMaster1.xml" Id="Ree62bd8aa67243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2d5377251649c3" /><Relationship Type="http://schemas.openxmlformats.org/officeDocument/2006/relationships/notesMaster" Target="/ppt/notesMasters/notesMaster1.xml" Id="R9ed2ea87677743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8e06699ac14be0" /><Relationship Type="http://schemas.openxmlformats.org/officeDocument/2006/relationships/notesMaster" Target="/ppt/notesMasters/notesMaster1.xml" Id="Re0d5b5bfa6824d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11da121a3940fe" /><Relationship Type="http://schemas.openxmlformats.org/officeDocument/2006/relationships/notesMaster" Target="/ppt/notesMasters/notesMaster1.xml" Id="R97958b49ee7d4c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bc1ddc29184211" /><Relationship Type="http://schemas.openxmlformats.org/officeDocument/2006/relationships/notesMaster" Target="/ppt/notesMasters/notesMaster1.xml" Id="R651e7fd12620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이 발표는 최고 연평균 수익률을 찾는 것이 아니라, 좋아 보이는 과거 성과가 어떻게 실제 운용 규칙으로 살아남는지 보여주는 연구 여정이다.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한국 전략을 본문에 두고 미국 무료 전략은 검증 부록으로 다룬다.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템플릿D_포트폴리오점검.pptx; docs/CODEX-STRATEGY-METHODOLOGY-PERFORMANCE.md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결론은 최근 1년 최고가에 가까운 종목, 코스피 200일 이동평균선을 이용한 손실 방어, 그리고 데이터 정직성 세 가지다.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연평균 16.41%는 강한 증거지만 연간 매매 규모가 원금의 약 6.6배이고 50개 넘는 설정을 시험했으므로 확정된 초과수익이라고 단정하지 않는다.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‘결론 먼저’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240개 산출물을 파일 목록이 아니라 다섯 연구 질문으로 압축했다.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독립 수익률을 만들지 않는 포트폴리오·공시 진단은 운용 질문에 포함했다.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‘이 문서가 다루는 것’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숫자 순위보다 데이터 등급이 먼저다. 같은 연평균 수익률이라도 A등급과 C등급은 신뢰도가 다르다.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A등급도 거래소 공식 원장과 완전히 같은 것은 아니며 중간배당·유상증자·합병대가가 모두 이중검증된 상태는 아니다.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‘성과를 읽는 데이터 등급’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시점일치, 다음 시가, 비용, 공시 지연을 공통 계약으로 묶어야 설정 간 비교가 가능하다.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한국 매도비용 0.43%는 수수료 0.25%와 거래세 0.18%의 합이다. 미국 무료 결과는 매매 한 번에 0.10%를 반영했다.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‘공통 체결·비용 원칙’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초기 주가추세·돌파 여섯 전략은 모두 연평균 손실이었다.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현재 상장된 시가총액 상위 300종목만 과거에 소급한 +31.46%는 승자가 아니라 생존자 편향에 따른 과대평가 경보다.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analysis-example/kr-market/strategies/trend-following-10y/backtest-2026-07-10.md; expanded-backtest-2026-07-10.md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기존에 크게 보였던 연평균 21.78%는 데이터 정직성 검사를 통과하지 못했다.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같은 구형 설계를 상장폐지와 배당을 포함해 다시 계산하면 전체 연평균 8.82%, 검증구간 연평균 2.83%다.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analysis-example/kr-market/strategies/annual-top300/total-return-dividend-inclusive-2017-01-02-through-2026-07-16.md; strategy-policy.json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처음 시험한 12가지 종목선정 기준은 모두 통계 검증을 통과하지 못했다는 점이 핵심이다.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0.77은 77% 수익률이 아니라 위험 대비 수익 점수다. 가장 높았던 주당순이익 성장 점수 0.77도 다중검정을 반영한 통과 기준 0.84보다 낮다.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analysis-example/kr-market/strategies/annual-top300/robust-strategy-search-2017-01-02-through-2026-07-16.md/json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같은 운용 구조에서 주가 상승세를 계산하는 방법만 바꾸자 52주 최고가 근접 방식이 앞섰다.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위험 대비 수익 점수 0.90이 통과 기준 0.87을 넘었지만 실제 시험 수가 더 많으므로 강한 증거로만 해석한다.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analysis-example/kr-market/strategies/annual-top300/live-52w-high-momentum-2026-07-16.md; strategy-policy.json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최종 규칙은 단순하다. 복잡성은 점수식보다 투자대상과 주문시점 규칙에 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기존 보유 종목은 순위가 45위 밖으로 밀릴 때만 교체해 불필요한 매매를 줄인다.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52주 전략은 연평균 수익률, 위험 대비 수익 점수, 최대 낙폭, 검증구간 수익률, 통계 검증을 함께 만족한 유일한 종목선정 결과다.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A등급끼리 비교한 표이며 연간 매매 규모가 원금의 약 6.6배라는 점은 실제 운용에서 수익을 낮출 수 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‘한국 전략: 현재 의사결정에 쓸 표’ 및 각 JSON 원장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좋은 해만 보여주지 않는다. 2024년 -13%와 원장 공백도 함께 공개한다.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막대의 72%는 0.72라는 점수가 아니라 2020년 한 해 수익률 +72%다. 52주 값은 보존된 원문 반올림값이며 2018·2019·2022는 추정하지 않았다. 기본 혼합전략 연도 원장: 21.35, -4.32, 2.97, 71.33, -0.91, 0, -20.90, 3.74, 38.81, 25.23%. 이익성장 전략: 34.02, -6.64, 2.95, 47.53, 8.48, 0, -12.28, 1.03, 46.96, 3.30%. 2026은 연초 이후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live-52w-high-momentum-2026-07-16.md; annual-top300-R1-total-return-...json; annual-top300-return-seeking-eps-...json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52주 전략은 46% 승률을 2.28배 손익비로 보완했다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정의: 첫 매수부터 종목 잔고가 0이 될 때까지를 1개 보유 사이클로 묶고 부분매도는 FIFO로 대응했다. 승률은 순손익 양수 실현 사이클 비율, 손익비는 평균 이익률을 평균 손실률 절댓값으로 나눈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주의: 연도는 실제 청산연도 기준이며 2026 YTD 표는 2026-07-16까지 실제 청산된 사이클만 포함한다.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analysis-example/kr-market/strategies/annual-top300/strategy-yearly-win-payoff-comparison-2017-through-2026-07-16.json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기본 혼합전략은 1.65배 손익비로 중간 수준이었다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정의: 첫 매수부터 종목 잔고가 0이 될 때까지를 1개 보유 사이클로 묶고 부분매도는 FIFO로 대응했다. 승률은 순손익 양수 실현 사이클 비율, 손익비는 평균 이익률을 평균 손실률 절댓값으로 나눈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주의: 연도는 실제 청산연도 기준이며 2026 YTD 표는 2026-07-16까지 실제 청산된 사이클만 포함한다.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analysis-example/kr-market/strategies/annual-top300/strategy-yearly-win-payoff-comparison-2017-through-2026-07-16.json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이익성장 전략은 50.8% 승률로 가장 높았다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정의: 첫 매수부터 종목 잔고가 0이 될 때까지를 1개 보유 사이클로 묶고 부분매도는 FIFO로 대응했다. 승률은 순손익 양수 실현 사이클 비율, 손익비는 평균 이익률을 평균 손실률 절댓값으로 나눈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주의: 연도는 실제 청산연도 기준이며 2026 YTD 표는 2026-07-16까지 실제 청산된 사이클만 포함한다.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analysis-example/kr-market/strategies/annual-top300/strategy-yearly-win-payoff-comparison-2017-through-2026-07-16.json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시장 전체 전략은 많은 거래에도 PF 1.18에 그쳤다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정의: 첫 매수부터 종목 잔고가 0이 될 때까지를 1개 보유 사이클로 묶고 부분매도는 FIFO로 대응했다. 승률은 순손익 양수 실현 사이클 비율, 손익비는 평균 이익률을 평균 손실률 절댓값으로 나눈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주의: 연도는 실제 청산연도 기준이며 2026 YTD 표는 2026-07-16까지 실제 청산된 사이클만 포함한다.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analysis-example/kr-market/strategies/annual-top300/strategy-yearly-win-payoff-comparison-2017-through-2026-07-16.json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구형 전략은 변동성 타깃 뒤 손익비가 1.51배였다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정의: 첫 매수부터 종목 잔고가 0이 될 때까지를 1개 보유 사이클로 묶고 부분매도는 FIFO로 대응했다. 승률은 순손익 양수 실현 사이클 비율, 손익비는 평균 이익률을 평균 손실률 절댓값으로 나눈 값이다.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주의: 연도는 실제 청산연도 기준이며 2026 YTD 표는 2026-07-16까지 실제 청산된 사이클만 포함한다.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analysis-example/kr-market/strategies/annual-top300/strategy-yearly-win-payoff-comparison-2017-through-2026-07-16.json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시가총액 상위 500종목은 검증구간 수익률 추정치가 높았지만 통계 검증과 실제 거래 편의가 나빠졌다.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상위 300종목만 통계 기준을 통과했고 상위 100종목보다 후보가 충분하며 상위 500종목보다 연간 매매 규모가 작다.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analysis-example/kr-market/strategies/annual-top300/universe-size-comparison-52w-high-2017-01-02-through-2026-07-16.md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최대 낙폭을 줄인 것은 코스피 200일 이동평균선 규칙이었다. 변동성 제한은 수익률만 깎았다.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변동성 제한을 약하게 할수록 연평균 수익률이 계속 높아져 최종 기본전략에서는 제거했다.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overlay-ablation-sensitivity-marcap-split-2017-01-02-through-2026-07-16.md; lowrisk-regime-design-2017-01-02-through-2026-07-16.md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대안은 성과 순위가 아니라 목적별 선택지다.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주가상승과 이익성장을 섞은 기본전략은 비교 기준선, 이익성장 중심은 적극적 선택, 시장 전체에 200일선을 적용한 전략은 자본보존용이다.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‘Codex 판정’; supporting JSONs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전체 전략군을 채택·보조·기각·추가검증·비교금지로 분류한다.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C등급의 연평균 30~40% 결과는 아이디어 발굴에는 쓰지만 A등급 결과와 직접 순위를 매기지 않는다.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전체 한국 전략 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백테스트 규칙은 월 1회 재선정, 코스피 200일선 확인, 다음 날 시가 주문으로 번역된다.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라이브는 모델 신호와 자동화 현황이며 실계좌 체결 성과가 아니다.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live-52w-high-momentum-2026-07-16.md; HANDOFF-52w-high.md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더존비즈온 사례는 가격 숫자가 존재하는 것과 실제 거래 가능성이 다름을 보여준다.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신호일의 시가·고가·저가·종가와 거래량이 모두 0보다 큰 종목만 허용하도록 수정했고 자동 계산 뒤 실제 주문은 수동이다.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HANDOFF-52w-high.md, 2026-07-19 정정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미국 무료 시가총액 상위 500종목 결과는 미국 대형주 지수인 S&amp;P500보다 검증된 초과수익을 만들지 못했다.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검증구간은 약 2년이며 미국 학술용 주가·재무 데이터로 시점일치를 확인한 결과는 아직 없다.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analysis-example/us-market/strategies/us-minervini-annual-variant-comparison/weekly-annual-variant-comparison-2025-12-31.md/json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발표: 현재는 52주 최고가 근접 전략을 후보로 채택하되 코스피 200일선 방어를 공통 적용하고 공식 데이터 검증을 이어간다.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해석: 실제 운용의 기대수익은 표시된 연평균 16.41%보다 낮은 10%대 초반으로 잡는 편이 정직하다.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docs/CODEX-STRATEGY-METHODOLOGY-PERFORMANCE.md ‘Codex 판정’; HANDOFF-52w-high.md TODO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c6f6bea9940af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3fcb44e7e4d8c" /><Relationship Type="http://schemas.openxmlformats.org/officeDocument/2006/relationships/slideLayout" Target="/ppt/slideLayouts/slideLayout1.xml" Id="R6533b09048964a9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3b09048964a9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6027209024dde" /><Relationship Type="http://schemas.openxmlformats.org/officeDocument/2006/relationships/notesSlide" Target="/ppt/notesSlides/notesSlide1.xml" Id="R05c886d01070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49ad9d24e4c5a" /><Relationship Type="http://schemas.openxmlformats.org/officeDocument/2006/relationships/notesSlide" Target="/ppt/notesSlides/notesSlide2.xml" Id="Ra5418c5d1c0340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49cff02b74121" /><Relationship Type="http://schemas.openxmlformats.org/officeDocument/2006/relationships/notesSlide" Target="/ppt/notesSlides/notesSlide3.xml" Id="R053971c20d744b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46251f2594c08" /><Relationship Type="http://schemas.openxmlformats.org/officeDocument/2006/relationships/notesSlide" Target="/ppt/notesSlides/notesSlide4.xml" Id="Rff2b8a4841654e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47d746a934c7f" /><Relationship Type="http://schemas.openxmlformats.org/officeDocument/2006/relationships/notesSlide" Target="/ppt/notesSlides/notesSlide5.xml" Id="R30063be1d74244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7a6509b949cd" /><Relationship Type="http://schemas.openxmlformats.org/officeDocument/2006/relationships/chart" Target="/ppt/slides/charts/chart1.xml" Id="R17ccd598c9d74b4d" /><Relationship Type="http://schemas.openxmlformats.org/officeDocument/2006/relationships/notesSlide" Target="/ppt/notesSlides/notesSlide6.xml" Id="Rd857048273ae45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8fe3deb87440d" /><Relationship Type="http://schemas.openxmlformats.org/officeDocument/2006/relationships/notesSlide" Target="/ppt/notesSlides/notesSlide7.xml" Id="R0cc08fb517e045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3c7f884d14a39" /><Relationship Type="http://schemas.openxmlformats.org/officeDocument/2006/relationships/image" Target="/ppt/media/image.png" Id="R2c9feeaff5af423e" /><Relationship Type="http://schemas.openxmlformats.org/officeDocument/2006/relationships/notesSlide" Target="/ppt/notesSlides/notesSlide8.xml" Id="R223c1a3a301640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9ecfb8a394ccd" /><Relationship Type="http://schemas.openxmlformats.org/officeDocument/2006/relationships/chart" Target="/ppt/slides/charts/chart2.xml" Id="R37bff8a9fab44ff0" /><Relationship Type="http://schemas.openxmlformats.org/officeDocument/2006/relationships/notesSlide" Target="/ppt/notesSlides/notesSlide9.xml" Id="Rf472310c495b4c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0d81d42bc4bf6" /><Relationship Type="http://schemas.openxmlformats.org/officeDocument/2006/relationships/chart" Target="/ppt/slides/charts/chart3.xml" Id="R07cade42afb84d8d" /><Relationship Type="http://schemas.openxmlformats.org/officeDocument/2006/relationships/notesSlide" Target="/ppt/notesSlides/notesSlide10.xml" Id="R5ea9a04a817a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8c571c7474167" /><Relationship Type="http://schemas.openxmlformats.org/officeDocument/2006/relationships/notesSlide" Target="/ppt/notesSlides/notesSlide11.xml" Id="R227074d942864a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20787cb7a45b3" /><Relationship Type="http://schemas.openxmlformats.org/officeDocument/2006/relationships/notesSlide" Target="/ppt/notesSlides/notesSlide12.xml" Id="R494fe3ece0b944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c7e036aa54056" /><Relationship Type="http://schemas.openxmlformats.org/officeDocument/2006/relationships/chart" Target="/ppt/slides/charts/chart4.xml" Id="R949e3286f86b424a" /><Relationship Type="http://schemas.openxmlformats.org/officeDocument/2006/relationships/notesSlide" Target="/ppt/notesSlides/notesSlide13.xml" Id="R249b60d80c1449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02625cf084863" /><Relationship Type="http://schemas.openxmlformats.org/officeDocument/2006/relationships/notesSlide" Target="/ppt/notesSlides/notesSlide14.xml" Id="Rc18f66da011848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ddd7c3c774b26" /><Relationship Type="http://schemas.openxmlformats.org/officeDocument/2006/relationships/notesSlide" Target="/ppt/notesSlides/notesSlide15.xml" Id="R036723e423444d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d6b254dff4293" /><Relationship Type="http://schemas.openxmlformats.org/officeDocument/2006/relationships/notesSlide" Target="/ppt/notesSlides/notesSlide16.xml" Id="Rfd9ddc4b4a1348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da8433e9c4e6f" /><Relationship Type="http://schemas.openxmlformats.org/officeDocument/2006/relationships/notesSlide" Target="/ppt/notesSlides/notesSlide17.xml" Id="R962fffd21d2645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fa6d80c04231" /><Relationship Type="http://schemas.openxmlformats.org/officeDocument/2006/relationships/notesSlide" Target="/ppt/notesSlides/notesSlide18.xml" Id="R8e51327d9aa147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1891f145a4e30" /><Relationship Type="http://schemas.openxmlformats.org/officeDocument/2006/relationships/notesSlide" Target="/ppt/notesSlides/notesSlide19.xml" Id="R972f4cf9065e46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d969a5c0742eb" /><Relationship Type="http://schemas.openxmlformats.org/officeDocument/2006/relationships/notesSlide" Target="/ppt/notesSlides/notesSlide20.xml" Id="R5429c22318e946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2a1a978f46eb" /><Relationship Type="http://schemas.openxmlformats.org/officeDocument/2006/relationships/notesSlide" Target="/ppt/notesSlides/notesSlide21.xml" Id="R538103ddfc5242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572b175f4811" /><Relationship Type="http://schemas.openxmlformats.org/officeDocument/2006/relationships/notesSlide" Target="/ppt/notesSlides/notesSlide22.xml" Id="R9fd1388619e64d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3e35066d74c84" /><Relationship Type="http://schemas.openxmlformats.org/officeDocument/2006/relationships/notesSlide" Target="/ppt/notesSlides/notesSlide23.xml" Id="Rf025cb94cfca4d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52fb1dba840cb" /><Relationship Type="http://schemas.openxmlformats.org/officeDocument/2006/relationships/notesSlide" Target="/ppt/notesSlides/notesSlide24.xml" Id="R73d3737fd10249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7b1529a9848b6" /><Relationship Type="http://schemas.openxmlformats.org/officeDocument/2006/relationships/notesSlide" Target="/ppt/notesSlides/notesSlide25.xml" Id="Rd015ac419e3249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6d20de10c4afc" /><Relationship Type="http://schemas.openxmlformats.org/officeDocument/2006/relationships/notesSlide" Target="/ppt/notesSlides/notesSlide26.xml" Id="R2abcc3cc3c594ae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연평균 손실률의 크기</c:v>
          </c:tx>
          <c:spPr>
            <a:solidFill xmlns:a="http://schemas.openxmlformats.org/drawingml/2006/main">
              <a:srgbClr val="E74C3C"/>
            </a:solidFill>
          </c:spPr>
          <c:dPt>
            <c:idx val="0"/>
            <c:spPr>
              <a:solidFill xmlns:a="http://schemas.openxmlformats.org/drawingml/2006/main">
                <a:srgbClr val="E74C3C"/>
              </a:solidFill>
            </c:spPr>
          </c:dPt>
          <c:dPt>
            <c:idx val="1"/>
            <c:spPr>
              <a:solidFill xmlns:a="http://schemas.openxmlformats.org/drawingml/2006/main">
                <a:srgbClr val="E74C3C"/>
              </a:solidFill>
            </c:spPr>
          </c:dPt>
          <c:dPt>
            <c:idx val="2"/>
            <c:spPr>
              <a:solidFill xmlns:a="http://schemas.openxmlformats.org/drawingml/2006/main">
                <a:srgbClr val="E74C3C"/>
              </a:solidFill>
            </c:spPr>
          </c:dPt>
          <c:dPt>
            <c:idx val="3"/>
            <c:spPr>
              <a:solidFill xmlns:a="http://schemas.openxmlformats.org/drawingml/2006/main">
                <a:srgbClr val="E74C3C"/>
              </a:solidFill>
            </c:spPr>
          </c:dPt>
          <c:dPt>
            <c:idx val="4"/>
            <c:spPr>
              <a:solidFill xmlns:a="http://schemas.openxmlformats.org/drawingml/2006/main">
                <a:srgbClr val="E74C3C"/>
              </a:solidFill>
            </c:spPr>
          </c:dPt>
          <c:dPt>
            <c:idx val="5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6"/>
              <c:pt idx="0">
                <c:v>최근 12개월 수익률  -15.1%</c:v>
              </c:pt>
              <c:pt idx="1">
                <c:v>엄격한 성장주 조건  -20.1%</c:v>
              </c:pt>
              <c:pt idx="2">
                <c:v>55일 돌파·20일 이탈  -13.8%</c:v>
              </c:pt>
              <c:pt idx="3">
                <c:v>10개월 이동평균선  -14.1%</c:v>
              </c:pt>
              <c:pt idx="4">
                <c:v>1년 수익률 양수 종목  -15.0%</c:v>
              </c:pt>
              <c:pt idx="5">
                <c:v>추세가 꺾일 때까지 보유  -1.7%</c:v>
              </c:pt>
            </c:strLit>
          </c:cat>
          <c:val>
            <c:numLit>
              <c:formatCode>General</c:formatCode>
              <c:ptCount val="6"/>
              <c:pt idx="0">
                <c:v>15.08</c:v>
              </c:pt>
              <c:pt idx="1">
                <c:v>20.07</c:v>
              </c:pt>
              <c:pt idx="2">
                <c:v>13.84</c:v>
              </c:pt>
              <c:pt idx="3">
                <c:v>14.05</c:v>
              </c:pt>
              <c:pt idx="4">
                <c:v>14.99</c:v>
              </c:pt>
              <c:pt idx="5">
                <c:v>1.7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E4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실제 점수</c:v>
          </c:tx>
          <c:spPr>
            <a:solidFill xmlns:a="http://schemas.openxmlformats.org/drawingml/2006/main">
              <a:srgbClr val="2E75B6"/>
            </a:solidFill>
          </c:spPr>
          <c:dLbls>
            <c:dLbl>
              <c:idx val="1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주당순이익 성장</c:v>
              </c:pt>
              <c:pt idx="1">
                <c:v>자산수익성</c:v>
              </c:pt>
              <c:pt idx="2">
                <c:v>기본 혼합전략</c:v>
              </c:pt>
              <c:pt idx="3">
                <c:v>주가 상승세</c:v>
              </c:pt>
              <c:pt idx="4">
                <c:v>저평가</c:v>
              </c:pt>
              <c:pt idx="5">
                <c:v>저평가+이익성장</c:v>
              </c:pt>
              <c:pt idx="6">
                <c:v>저평가+재무건전</c:v>
              </c:pt>
              <c:pt idx="7">
                <c:v>저평가+재무건전+낮은 변동성</c:v>
              </c:pt>
              <c:pt idx="8">
                <c:v>저평가+낮은 변동성</c:v>
              </c:pt>
              <c:pt idx="9">
                <c:v>네 기준 모두</c:v>
              </c:pt>
              <c:pt idx="10">
                <c:v>주가상승+낮은 변동성 (-0.07)</c:v>
              </c:pt>
              <c:pt idx="11">
                <c:v>낮은 변동성 (-0.10)</c:v>
              </c:pt>
            </c:strLit>
          </c:cat>
          <c:val>
            <c:numLit>
              <c:formatCode>0.00"점"</c:formatCode>
              <c:ptCount val="12"/>
              <c:pt idx="0">
                <c:v>0.77</c:v>
              </c:pt>
              <c:pt idx="1">
                <c:v>0.58</c:v>
              </c:pt>
              <c:pt idx="2">
                <c:v>0.57</c:v>
              </c:pt>
              <c:pt idx="3">
                <c:v>0.49</c:v>
              </c:pt>
              <c:pt idx="4">
                <c:v>0.48</c:v>
              </c:pt>
              <c:pt idx="5">
                <c:v>0.39</c:v>
              </c:pt>
              <c:pt idx="6">
                <c:v>0.29</c:v>
              </c:pt>
              <c:pt idx="7">
                <c:v>0.19</c:v>
              </c:pt>
              <c:pt idx="8">
                <c:v>0.18</c:v>
              </c:pt>
              <c:pt idx="9">
                <c:v>0.15</c:v>
              </c:pt>
              <c:pt idx="10">
                <c:v>0</c:v>
              </c:pt>
              <c:pt idx="11">
                <c:v>0</c:v>
              </c:pt>
            </c:numLit>
          </c:val>
        </c:ser>
        <c:ser>
          <c:idx val="1"/>
          <c:order val="1"/>
          <c:tx>
            <c:v>통과 기준</c:v>
          </c:tx>
          <c:spPr>
            <a:solidFill xmlns:a="http://schemas.openxmlformats.org/drawingml/2006/main">
              <a:srgbClr val="C8D0D8"/>
            </a:solidFill>
          </c:spPr>
          <c:cat>
            <c:strLit>
              <c:ptCount val="12"/>
              <c:pt idx="0">
                <c:v>주당순이익 성장</c:v>
              </c:pt>
              <c:pt idx="1">
                <c:v>자산수익성</c:v>
              </c:pt>
              <c:pt idx="2">
                <c:v>기본 혼합전략</c:v>
              </c:pt>
              <c:pt idx="3">
                <c:v>주가 상승세</c:v>
              </c:pt>
              <c:pt idx="4">
                <c:v>저평가</c:v>
              </c:pt>
              <c:pt idx="5">
                <c:v>저평가+이익성장</c:v>
              </c:pt>
              <c:pt idx="6">
                <c:v>저평가+재무건전</c:v>
              </c:pt>
              <c:pt idx="7">
                <c:v>저평가+재무건전+낮은 변동성</c:v>
              </c:pt>
              <c:pt idx="8">
                <c:v>저평가+낮은 변동성</c:v>
              </c:pt>
              <c:pt idx="9">
                <c:v>네 기준 모두</c:v>
              </c:pt>
              <c:pt idx="10">
                <c:v>주가상승+낮은 변동성 (-0.07)</c:v>
              </c:pt>
              <c:pt idx="11">
                <c:v>낮은 변동성 (-0.10)</c:v>
              </c:pt>
            </c:strLit>
          </c:cat>
          <c:val>
            <c:numLit>
              <c:formatCode>0.00"점"</c:formatCode>
              <c:ptCount val="12"/>
              <c:pt idx="0">
                <c:v>0.84</c:v>
              </c:pt>
              <c:pt idx="1">
                <c:v>0.8</c:v>
              </c:pt>
              <c:pt idx="2">
                <c:v>0.79</c:v>
              </c:pt>
              <c:pt idx="3">
                <c:v>0.78</c:v>
              </c:pt>
              <c:pt idx="4">
                <c:v>0.78</c:v>
              </c:pt>
              <c:pt idx="5">
                <c:v>0.76</c:v>
              </c:pt>
              <c:pt idx="6">
                <c:v>0.75</c:v>
              </c:pt>
              <c:pt idx="7">
                <c:v>0.74</c:v>
              </c:pt>
              <c:pt idx="8">
                <c:v>0.74</c:v>
              </c:pt>
              <c:pt idx="9">
                <c:v>0.74</c:v>
              </c:pt>
              <c:pt idx="10">
                <c:v>0.74</c:v>
              </c:pt>
              <c:pt idx="11">
                <c:v>0.74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2F3E4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2F3E4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연평균 복리수익률</c:v>
          </c:tx>
          <c:spPr>
            <a:solidFill xmlns:a="http://schemas.openxmlformats.org/drawingml/2006/main">
              <a:srgbClr val="2E75B6"/>
            </a:solidFill>
          </c:spPr>
          <c:dPt>
            <c:idx val="3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4"/>
              <c:pt idx="0">
                <c:v>3·6·12개월 수익률</c:v>
              </c:pt>
              <c:pt idx="1">
                <c:v>최근 1개월 제외</c:v>
              </c:pt>
              <c:pt idx="2">
                <c:v>변동성 보정</c:v>
              </c:pt>
              <c:pt idx="3">
                <c:v>52주 최고가 근접</c:v>
              </c:pt>
            </c:strLit>
          </c:cat>
          <c:val>
            <c:numLit>
              <c:formatCode>0.0%</c:formatCode>
              <c:ptCount val="4"/>
              <c:pt idx="0">
                <c:v>0.099</c:v>
              </c:pt>
              <c:pt idx="1">
                <c:v>0.035</c:v>
              </c:pt>
              <c:pt idx="2">
                <c:v>0.061</c:v>
              </c:pt>
              <c:pt idx="3">
                <c:v>0.1641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3E4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F8C8D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52주 신고가 (원문 보존값)</c:v>
          </c:tx>
          <c:spPr>
            <a:solidFill xmlns:a="http://schemas.openxmlformats.org/drawingml/2006/main">
              <a:srgbClr val="F39C12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2E75B6"/>
              </a:solidFill>
            </c:spPr>
          </c:dPt>
          <c:dPt>
            <c:idx val="1"/>
            <c:spPr>
              <a:solidFill xmlns:a="http://schemas.openxmlformats.org/drawingml/2006/main">
                <a:srgbClr val="F39C12"/>
              </a:solidFill>
            </c:spPr>
          </c:dPt>
          <c:dPt>
            <c:idx val="2"/>
            <c:spPr>
              <a:solidFill xmlns:a="http://schemas.openxmlformats.org/drawingml/2006/main">
                <a:srgbClr val="2E75B6"/>
              </a:solidFill>
            </c:spPr>
          </c:dPt>
          <c:dPt>
            <c:idx val="3"/>
            <c:spPr>
              <a:solidFill xmlns:a="http://schemas.openxmlformats.org/drawingml/2006/main">
                <a:srgbClr val="2E75B6"/>
              </a:solidFill>
            </c:spPr>
          </c:dPt>
          <c:dPt>
            <c:idx val="4"/>
            <c:spPr>
              <a:solidFill xmlns:a="http://schemas.openxmlformats.org/drawingml/2006/main">
                <a:srgbClr val="E74C3C"/>
              </a:solidFill>
            </c:spPr>
          </c:dPt>
          <c:dPt>
            <c:idx val="5"/>
            <c:spPr>
              <a:solidFill xmlns:a="http://schemas.openxmlformats.org/drawingml/2006/main">
                <a:srgbClr val="2E75B6"/>
              </a:solidFill>
            </c:spPr>
          </c:dPt>
          <c:dPt>
            <c:idx val="6"/>
            <c:spPr>
              <a:solidFill xmlns:a="http://schemas.openxmlformats.org/drawingml/2006/main">
                <a:srgbClr val="F39C12"/>
              </a:solidFill>
            </c:spPr>
          </c:dPt>
          <c:cat>
            <c:strLit>
              <c:ptCount val="7"/>
              <c:pt idx="0">
                <c:v>2017</c:v>
              </c:pt>
              <c:pt idx="1">
                <c:v>2020</c:v>
              </c:pt>
              <c:pt idx="2">
                <c:v>2021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연초 이후</c:v>
              </c:pt>
            </c:strLit>
          </c:cat>
          <c:val>
            <c:numLit>
              <c:formatCode>0%</c:formatCode>
              <c:ptCount val="7"/>
              <c:pt idx="0">
                <c:v>0.2</c:v>
              </c:pt>
              <c:pt idx="1">
                <c:v>0.72</c:v>
              </c:pt>
              <c:pt idx="2">
                <c:v>0.33</c:v>
              </c:pt>
              <c:pt idx="3">
                <c:v>0.19</c:v>
              </c:pt>
              <c:pt idx="4">
                <c:v>-0.13</c:v>
              </c:pt>
              <c:pt idx="5">
                <c:v>0.26</c:v>
              </c:pt>
              <c:pt idx="6">
                <c:v>0.18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2F3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F3E4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8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8C8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F55217D6-83CB-4B4D-98D5-BF51F2FD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BD0A44FA-B02D-43FE-BB8F-7235C06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0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좋아 보이는 백테스트에서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0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운용 가능한 전략까지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10D6799-71F2-4A63-B080-410C8D3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>
                <a:solidFill>
                  <a:srgbClr val="D5E8F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D5E8F0"/>
                </a:solidFill>
                <a:latin typeface="Calibri"/>
                <a:ea typeface="Calibri"/>
                <a:cs typeface="Calibri"/>
              </a:rPr>
              <a:t>한국 전략 중심 · 미국 전략은 검증이 덜 된 참고자료</a:t>
            </a:r>
          </a:p>
        </p:txBody>
      </p:sp>
      <p:cxnSp>
        <p:nvCxnSpPr>
          <p:cNvPr id="37" name="Google Shape;19;p3"/>
          <p:cNvCxnSpPr/>
          <p:nvPr/>
        </p:nvCxnSpPr>
        <p:spPr>
          <a:xfrm xmlns:a="http://schemas.openxmlformats.org/drawingml/2006/main">
            <a:off x="731520" y="3017520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69AA780-9C9E-4158-A0BC-A779B11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76809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9FB3C5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9FB3C5"/>
                </a:solidFill>
                <a:latin typeface="Calibri"/>
                <a:ea typeface="Calibri"/>
                <a:cs typeface="Calibri"/>
              </a:rPr>
              <a:t>투자 스터디 · 2026-07-19    |    한국 본문 · 미국 참고자료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98FF13BF-E2BC-475D-A05A-BA2419F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46320"/>
            <a:ext cx="914400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67507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결론은 세 가지다: 52주 최고가·시장 방어·데이터 정직성</a:t>
            </a:r>
          </a:p>
        </p:txBody>
      </p:sp>
      <p:cxnSp>
        <p:nvCxnSpPr>
          <p:cNvPr id="133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2026-07-16 · 2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1  최근 1년 최고가에 가까운 종목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연평균 복리수익률 16.41%
위험 대비 수익 점수 0.90 · 통계 기준 통과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  지수가 200일 평균선 아래면 현금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시장 최대 낙폭 -52.82% → -26.96%
가장 반복 가능한 손실 방어 규칙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3  데이터 정직성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9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9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구형 21.78% → 정직 재계산 8.82% (구형 전략 기준)
채택한 52주 전략은 같은 정직 데이터로 16.41%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240개 산출물은 다섯 질문으로 압축된다</a:t>
            </a:r>
          </a:p>
        </p:txBody>
      </p:sp>
      <p:cxnSp>
        <p:nvCxnSpPr>
          <p:cNvPr id="70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3</a:t>
            </a:r>
          </a:p>
        </p:txBody>
      </p:sp>
      <p:graphicFrame>
        <p:nvGraphicFramePr>
          <p:cNvPr id="72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연구 질문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핵심 비교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현재 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4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데이터가 정직한가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A~D등급 · 시점 일치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A등급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A~D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무엇이 살아남는가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초기 → 12가지 기준 → 52주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A·C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어떤 방어가 재현되는가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방어 없음 · 200일선 · 변동성 제한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어떻게 운용하는가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보유 완충 · 다음 날 시가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자동 계산·수동 주문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모델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미국에서도 통하는가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무료 상위500 · 미국지수 · 공식자료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아직 미검증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9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B·D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수익률보다 먼저 데이터 등급과 숫자 읽는 법을 맞춘다</a:t>
            </a:r>
          </a:p>
        </p:txBody>
      </p:sp>
      <p:cxnSp>
        <p:nvCxnSpPr>
          <p:cNvPr id="70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참고 · 데이터 A~D등급 · 2026-07-19 · 4</a:t>
            </a:r>
          </a:p>
        </p:txBody>
      </p:sp>
      <p:graphicFrame>
        <p:nvGraphicFramePr>
          <p:cNvPr id="72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대표 입력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허용 용도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00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전년말 종목목록 · 상장폐지 포함 · 배당 포함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한국 대표 결과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현재 사용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연도별 종목목록 · 무료 조정주가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민감도 확인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부분 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현재 상장종목을 과거에 소급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아이디어 발굴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순위 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거래소 공식자료 또는 미국 학술용 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최종 확인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아직 결과 없음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숫자 읽기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연평균 복리수익률 · 최대 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 수익 점수 · 검증구간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6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단위 함께 표시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0">
            <a:extLst xmlns:a="http://schemas.openxmlformats.org/drawingml/2006/main">
              <a:ext uri="{FF2B5EF4-FFF2-40B4-BE49-F238E27FC236}">
                <a16:creationId xmlns:a16="http://schemas.microsoft.com/office/drawing/2014/main" id="{580E377C-FC5C-4E24-910B-A83E5D0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10">
            <a:extLst xmlns:a="http://schemas.openxmlformats.org/drawingml/2006/main">
              <a:ext uri="{FF2B5EF4-FFF2-40B4-BE49-F238E27FC236}">
                <a16:creationId xmlns:a16="http://schemas.microsoft.com/office/drawing/2014/main" id="{9F8DB90B-6E04-4869-A463-7C5D78E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모든 전략에 같은 날짜·주문·비용 규칙을 적용했다</a:t>
            </a:r>
          </a:p>
        </p:txBody>
      </p:sp>
      <p:cxnSp>
        <p:nvCxnSpPr>
          <p:cNvPr id="107" name="Google Shape;90;p10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0">
            <a:extLst xmlns:a="http://schemas.openxmlformats.org/drawingml/2006/main">
              <a:ext uri="{FF2B5EF4-FFF2-40B4-BE49-F238E27FC236}">
                <a16:creationId xmlns:a16="http://schemas.microsoft.com/office/drawing/2014/main" id="{4C697FE6-7A66-4FEF-B778-3F1ACAB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방법론 · 데이터 A·B등급 · 2026-07-16 · 5</a:t>
            </a:r>
          </a:p>
        </p:txBody>
      </p:sp>
      <p:sp>
        <p:nvSpPr>
          <p:cNvPr id="92" name="Google Shape;92;p10">
            <a:extLst xmlns:a="http://schemas.openxmlformats.org/drawingml/2006/main">
              <a:ext uri="{FF2B5EF4-FFF2-40B4-BE49-F238E27FC236}">
                <a16:creationId xmlns:a16="http://schemas.microsoft.com/office/drawing/2014/main" id="{A11262F1-953E-498D-83E7-96C03FE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10">
            <a:extLst xmlns:a="http://schemas.openxmlformats.org/drawingml/2006/main">
              <a:ext uri="{FF2B5EF4-FFF2-40B4-BE49-F238E27FC236}">
                <a16:creationId xmlns:a16="http://schemas.microsoft.com/office/drawing/2014/main" id="{43661415-D667-4B75-9FF8-CC311A9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그때 알 수 있던 정보만 사용</a:t>
            </a:r>
          </a:p>
          <a:p xmlns:a="http://schemas.openxmlformats.org/drawingml/2006/main">
            <a:pPr algn="l">
              <a:spcAft>
                <a:spcPts val="20"/>
              </a:spcAft>
              <a:buNone/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6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전년말 시가총액 상위 300종목을 다음 해에 적용
전자공시는 실제 공개된 날 이후만 사용
기본 혼합전략은 공시 후 1거래일 뒤 반영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데이터 범위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26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6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상폐 포함 가격 · 배당 재투자
없는 숫자는 제외·기록, 추정 금지</a:t>
            </a:r>
          </a:p>
        </p:txBody>
      </p:sp>
      <p:sp>
        <p:nvSpPr>
          <p:cNvPr id="94" name="Google Shape;94;p10">
            <a:extLst xmlns:a="http://schemas.openxmlformats.org/drawingml/2006/main">
              <a:ext uri="{FF2B5EF4-FFF2-40B4-BE49-F238E27FC236}">
                <a16:creationId xmlns:a16="http://schemas.microsoft.com/office/drawing/2014/main" id="{9968B9BB-22C8-4493-B123-F2EC0F5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5" name="Google Shape;95;p10">
            <a:extLst xmlns:a="http://schemas.openxmlformats.org/drawingml/2006/main">
              <a:ext uri="{FF2B5EF4-FFF2-40B4-BE49-F238E27FC236}">
                <a16:creationId xmlns:a16="http://schemas.microsoft.com/office/drawing/2014/main" id="{6536140E-66A1-46F3-BB4E-1F46F03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다음 시가 체결</a:t>
            </a:r>
          </a:p>
          <a:p xmlns:a="http://schemas.openxmlformats.org/drawingml/2006/main">
            <a:pPr algn="l">
              <a:spcAft>
                <a:spcPts val="22"/>
              </a:spcAft>
              <a:buNone/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9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신호일 종가로 순위 계산
다음 거래일 시가에 체결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비용·제약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29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9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한국 매수비용 0.25% · 매도비용 0.43%
미국 무료자료는 매매 한 번에 0.10%
빚을 내지 않음 · 현금 수익률 0%</a:t>
            </a:r>
          </a:p>
        </p:txBody>
      </p:sp>
    </p:spTree>
    <p:extLst>
      <p:ext uri="{BB962C8B-B14F-4D97-AF65-F5344CB8AC3E}">
        <p14:creationId xmlns:p14="http://schemas.microsoft.com/office/powerpoint/2010/main" val="1898434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초기 추세·돌파 전략은 대부분 살아남지 못했다</a:t>
            </a:r>
          </a:p>
        </p:txBody>
      </p:sp>
      <p:cxnSp>
        <p:nvCxnSpPr>
          <p:cNvPr id="55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C등급 · 2016-07-11~2026-07-10 · 6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1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15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C등급 · 6개 모두 연평균 손실</a:t>
            </a:r>
            <a:r>
              <a:t>    |    현재 상장종목만 쓴 +31.46%는 과대평가 경보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2571750" y="914400"/>
          <a:ext xmlns:a="http://schemas.openxmlformats.org/drawingml/2006/main" cx="59340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ccd598c9d74b4d"/>
          </a:graphicData>
        </a:graphic>
      </p:graphicFrame>
      <p:sp>
        <p:nvSpPr>
          <p:cNvPr id="39" name="manual-axis-label-1">
            <a:extLst xmlns:a="http://schemas.openxmlformats.org/drawingml/2006/main">
              <a:ext uri="{FF2B5EF4-FFF2-40B4-BE49-F238E27FC236}">
                <a16:creationId xmlns:a16="http://schemas.microsoft.com/office/drawing/2014/main" id="{A4869001-2410-4D6B-A781-800A62A2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7155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추세가 꺾일 때까지 보유  -1.7%</a:t>
            </a:r>
          </a:p>
        </p:txBody>
      </p:sp>
      <p:sp>
        <p:nvSpPr>
          <p:cNvPr id="40" name="manual-axis-label-2">
            <a:extLst xmlns:a="http://schemas.openxmlformats.org/drawingml/2006/main">
              <a:ext uri="{FF2B5EF4-FFF2-40B4-BE49-F238E27FC236}">
                <a16:creationId xmlns:a16="http://schemas.microsoft.com/office/drawing/2014/main" id="{309AA2E9-8AE3-4502-955E-40EA9FFF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9255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1년 수익률 양수 종목  -15.0%</a:t>
            </a:r>
          </a:p>
        </p:txBody>
      </p:sp>
      <p:sp>
        <p:nvSpPr>
          <p:cNvPr id="41" name="manual-axis-label-3">
            <a:extLst xmlns:a="http://schemas.openxmlformats.org/drawingml/2006/main">
              <a:ext uri="{FF2B5EF4-FFF2-40B4-BE49-F238E27FC236}">
                <a16:creationId xmlns:a16="http://schemas.microsoft.com/office/drawing/2014/main" id="{6C000D14-1123-4D1B-9871-FE99420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1356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10개월 이동평균선  -14.1%</a:t>
            </a:r>
          </a:p>
        </p:txBody>
      </p:sp>
      <p:sp>
        <p:nvSpPr>
          <p:cNvPr id="42" name="manual-axis-label-4">
            <a:extLst xmlns:a="http://schemas.openxmlformats.org/drawingml/2006/main">
              <a:ext uri="{FF2B5EF4-FFF2-40B4-BE49-F238E27FC236}">
                <a16:creationId xmlns:a16="http://schemas.microsoft.com/office/drawing/2014/main" id="{61D2DEC2-A4D7-4A21-80A3-66AA009C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3456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55일 돌파·20일 이탈  -13.8%</a:t>
            </a:r>
          </a:p>
        </p:txBody>
      </p:sp>
      <p:sp>
        <p:nvSpPr>
          <p:cNvPr id="43" name="manual-axis-label-5">
            <a:extLst xmlns:a="http://schemas.openxmlformats.org/drawingml/2006/main">
              <a:ext uri="{FF2B5EF4-FFF2-40B4-BE49-F238E27FC236}">
                <a16:creationId xmlns:a16="http://schemas.microsoft.com/office/drawing/2014/main" id="{89CB6A7A-167B-4C6B-A341-B187AFE0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55570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엄격한 성장주 조건  -20.1%</a:t>
            </a:r>
          </a:p>
        </p:txBody>
      </p:sp>
      <p:sp>
        <p:nvSpPr>
          <p:cNvPr id="44" name="manual-axis-label-6">
            <a:extLst xmlns:a="http://schemas.openxmlformats.org/drawingml/2006/main">
              <a:ext uri="{FF2B5EF4-FFF2-40B4-BE49-F238E27FC236}">
                <a16:creationId xmlns:a16="http://schemas.microsoft.com/office/drawing/2014/main" id="{E082E8B6-DE99-4586-821E-A7193A5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76575"/>
            <a:ext cx="19526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7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12개월 수익률  -15.1%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1">
            <a:extLst xmlns:a="http://schemas.openxmlformats.org/drawingml/2006/main">
              <a:ext uri="{FF2B5EF4-FFF2-40B4-BE49-F238E27FC236}">
                <a16:creationId xmlns:a16="http://schemas.microsoft.com/office/drawing/2014/main" id="{38CDF35B-802E-415E-9689-960BAB4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2" name="Google Shape;102;p11">
            <a:extLst xmlns:a="http://schemas.openxmlformats.org/drawingml/2006/main">
              <a:ext uri="{FF2B5EF4-FFF2-40B4-BE49-F238E27FC236}">
                <a16:creationId xmlns:a16="http://schemas.microsoft.com/office/drawing/2014/main" id="{4F537A3C-AF09-4355-9386-99CABF4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상장폐지 종목을 포함하자 연평균 수익률은 8.82%였다</a:t>
            </a:r>
          </a:p>
        </p:txBody>
      </p:sp>
      <p:cxnSp>
        <p:nvCxnSpPr>
          <p:cNvPr id="122" name="Google Shape;103;p11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1">
            <a:extLst xmlns:a="http://schemas.openxmlformats.org/drawingml/2006/main">
              <a:ext uri="{FF2B5EF4-FFF2-40B4-BE49-F238E27FC236}">
                <a16:creationId xmlns:a16="http://schemas.microsoft.com/office/drawing/2014/main" id="{235C8BC7-13A8-4A24-BEA6-8155552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A·C등급 · 2017-01-02~2026-07-16 · 7</a:t>
            </a:r>
          </a:p>
        </p:txBody>
      </p:sp>
      <p:sp>
        <p:nvSpPr>
          <p:cNvPr id="105" name="Google Shape;105;p11">
            <a:extLst xmlns:a="http://schemas.openxmlformats.org/drawingml/2006/main">
              <a:ext uri="{FF2B5EF4-FFF2-40B4-BE49-F238E27FC236}">
                <a16:creationId xmlns:a16="http://schemas.microsoft.com/office/drawing/2014/main" id="{94ECEA4F-E0E8-4C2A-8F4C-806B5AD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6" name="Google Shape;106;p11">
            <a:extLst xmlns:a="http://schemas.openxmlformats.org/drawingml/2006/main">
              <a:ext uri="{FF2B5EF4-FFF2-40B4-BE49-F238E27FC236}">
                <a16:creationId xmlns:a16="http://schemas.microsoft.com/office/drawing/2014/main" id="{45AE1B03-023F-41CE-8F1B-33961A3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11">
            <a:extLst xmlns:a="http://schemas.openxmlformats.org/drawingml/2006/main">
              <a:ext uri="{FF2B5EF4-FFF2-40B4-BE49-F238E27FC236}">
                <a16:creationId xmlns:a16="http://schemas.microsoft.com/office/drawing/2014/main" id="{A96098D0-80CB-48DA-9C86-8B27A3D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기존 숫자 — 연평균 21.78% · 최대 낙폭 -16.44%</a:t>
            </a:r>
          </a:p>
          <a:p xmlns:a="http://schemas.openxmlformats.org/drawingml/2006/main">
            <a:pPr algn="l"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급락주와 상장폐지 종목이 빠진 원본 주가자료 · 전체기간에 맞춰 조건 조정</a:t>
            </a:r>
          </a:p>
        </p:txBody>
      </p:sp>
      <p:sp>
        <p:nvSpPr>
          <p:cNvPr id="108" name="Google Shape;108;p11">
            <a:extLst xmlns:a="http://schemas.openxmlformats.org/drawingml/2006/main">
              <a:ext uri="{FF2B5EF4-FFF2-40B4-BE49-F238E27FC236}">
                <a16:creationId xmlns:a16="http://schemas.microsoft.com/office/drawing/2014/main" id="{85116D3E-5183-491D-929E-E0D2153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11">
            <a:extLst xmlns:a="http://schemas.openxmlformats.org/drawingml/2006/main">
              <a:ext uri="{FF2B5EF4-FFF2-40B4-BE49-F238E27FC236}">
                <a16:creationId xmlns:a16="http://schemas.microsoft.com/office/drawing/2014/main" id="{43B0CE16-2FA9-4735-8C68-D01A7C6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11">
            <a:extLst xmlns:a="http://schemas.openxmlformats.org/drawingml/2006/main">
              <a:ext uri="{FF2B5EF4-FFF2-40B4-BE49-F238E27FC236}">
                <a16:creationId xmlns:a16="http://schemas.microsoft.com/office/drawing/2014/main" id="{0A09FBD8-77D2-48E5-ABBC-2D6143C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다시 계산 — 연평균 8.82% · 검증구간 연평균 2.83%</a:t>
            </a:r>
          </a:p>
          <a:p xmlns:a="http://schemas.openxmlformats.org/drawingml/2006/main">
            <a:pPr algn="l"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상장폐지 포함 주가 + 배당 포함 · 검증구간 최대 낙폭 -34.33%</a:t>
            </a:r>
          </a:p>
        </p:txBody>
      </p:sp>
    </p:spTree>
    <p:extLst>
      <p:ext uri="{BB962C8B-B14F-4D97-AF65-F5344CB8AC3E}">
        <p14:creationId xmlns:p14="http://schemas.microsoft.com/office/powerpoint/2010/main" val="10601975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E3D0C9-8CC8-405B-AD38-A3E1536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469AEB-F974-4499-8BCE-B55BAF4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생존편향을 빼면 초과수익은 대부분 사라진다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20EAD87-DF10-4CA9-9723-9E2AA8F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B3A5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feeaff5af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933450"/>
            <a:ext cx="7505700" cy="2896937"/>
          </a:xfrm>
          <a:prstGeom xmlns:a="http://schemas.openxmlformats.org/drawingml/2006/main" prst="rect">
            <a:avLst/>
          </a:prstGeom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C592BE-147E-4636-ADE8-FE4DE6A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453C1F-E673-4752-A120-D05C1FE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140" b="1">
                <a:solidFill>
                  <a:srgbClr val="F39C12"/>
                </a:solidFill>
                <a:latin typeface="맑은 고딕"/>
                <a:ea typeface="맑은 고딕"/>
                <a:cs typeface="맑은 고딕"/>
              </a:rPr>
              <a:t>데이터가 곡선을 만든다</a:t>
            </a:r>
            <a:r>
              <a:rPr sz="1140" b="0">
                <a:solidFill>
                  <a:srgbClr val="2F3E4D"/>
                </a:solidFill>
                <a:latin typeface="맑은 고딕"/>
                <a:ea typeface="맑은 고딕"/>
                <a:cs typeface="맑은 고딕"/>
              </a:rPr>
              <a:t>    |    구형 21.78%를 정직 데이터로 재계산 → 8.82%(≈시장)    |    채택 52주 전략(16.41%)은 이 정직 기반 위에서 검증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100D36-C739-42C5-868D-EF0BEBF9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63" b="0">
                <a:solidFill>
                  <a:srgbClr val="7F8C8D"/>
                </a:solidFill>
                <a:latin typeface="맑은 고딕"/>
                <a:ea typeface="맑은 고딕"/>
                <a:cs typeface="맑은 고딕"/>
              </a:rPr>
              <a:t>데이터 A·C등급 · 2017-01-02~2026-07-16 · 8</a:t>
            </a:r>
          </a:p>
        </p:txBody>
      </p:sp>
    </p:spTree>
    <p:extLst>
      <p:ext uri="{BB962C8B-B14F-4D97-AF65-F5344CB8AC3E}">
        <p14:creationId xmlns:p14="http://schemas.microsoft.com/office/powerpoint/2010/main" val="1456640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처음 시험한 12가지 기준은 통계 검증에 실패했다</a:t>
            </a:r>
          </a:p>
        </p:txBody>
      </p:sp>
      <p:cxnSp>
        <p:nvCxnSpPr>
          <p:cNvPr id="62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9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7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7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수익률 아님: 위험 대비 수익 점수</a:t>
            </a:r>
            <a:r>
              <a:t>    |    최고 0.77점 &lt; 통과 기준 0.84점 · 0/12 통과    |    0.84 = 전 전략 공통 위험조정수익 통과선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2428875" y="838200"/>
          <a:ext xmlns:a="http://schemas.openxmlformats.org/drawingml/2006/main" cx="6166485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ff8a9fab44ff0"/>
          </a:graphicData>
        </a:graphic>
      </p:graphicFrame>
      <p:sp>
        <p:nvSpPr>
          <p:cNvPr id="39" name="hide-artifact-axis-labels">
            <a:extLst xmlns:a="http://schemas.openxmlformats.org/drawingml/2006/main">
              <a:ext uri="{FF2B5EF4-FFF2-40B4-BE49-F238E27FC236}">
                <a16:creationId xmlns:a16="http://schemas.microsoft.com/office/drawing/2014/main" id="{547D1661-325D-4803-B54D-3A271D1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61664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anual-axis-label-1">
            <a:extLst xmlns:a="http://schemas.openxmlformats.org/drawingml/2006/main">
              <a:ext uri="{FF2B5EF4-FFF2-40B4-BE49-F238E27FC236}">
                <a16:creationId xmlns:a16="http://schemas.microsoft.com/office/drawing/2014/main" id="{C3D288D7-D195-47FB-AD4F-B868DF8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95375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낮은 변동성 (-0.10)</a:t>
            </a:r>
          </a:p>
        </p:txBody>
      </p:sp>
      <p:sp>
        <p:nvSpPr>
          <p:cNvPr id="41" name="manual-axis-label-2">
            <a:extLst xmlns:a="http://schemas.openxmlformats.org/drawingml/2006/main">
              <a:ext uri="{FF2B5EF4-FFF2-40B4-BE49-F238E27FC236}">
                <a16:creationId xmlns:a16="http://schemas.microsoft.com/office/drawing/2014/main" id="{647BC53E-7941-4846-BD0A-A5227AD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77779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주가상승+낮은 변동성 (-0.07)</a:t>
            </a:r>
          </a:p>
        </p:txBody>
      </p:sp>
      <p:sp>
        <p:nvSpPr>
          <p:cNvPr id="42" name="manual-axis-label-3">
            <a:extLst xmlns:a="http://schemas.openxmlformats.org/drawingml/2006/main">
              <a:ext uri="{FF2B5EF4-FFF2-40B4-BE49-F238E27FC236}">
                <a16:creationId xmlns:a16="http://schemas.microsoft.com/office/drawing/2014/main" id="{90D74303-56E6-446B-9963-DAA93DD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0183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네 기준 모두</a:t>
            </a:r>
          </a:p>
        </p:txBody>
      </p:sp>
      <p:sp>
        <p:nvSpPr>
          <p:cNvPr id="43" name="manual-axis-label-4">
            <a:extLst xmlns:a="http://schemas.openxmlformats.org/drawingml/2006/main">
              <a:ext uri="{FF2B5EF4-FFF2-40B4-BE49-F238E27FC236}">
                <a16:creationId xmlns:a16="http://schemas.microsoft.com/office/drawing/2014/main" id="{11DA7E8C-A8EB-4AA3-A394-76671DC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42586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저평가+낮은 변동성</a:t>
            </a:r>
          </a:p>
        </p:txBody>
      </p:sp>
      <p:sp>
        <p:nvSpPr>
          <p:cNvPr id="44" name="manual-axis-label-5">
            <a:extLst xmlns:a="http://schemas.openxmlformats.org/drawingml/2006/main">
              <a:ext uri="{FF2B5EF4-FFF2-40B4-BE49-F238E27FC236}">
                <a16:creationId xmlns:a16="http://schemas.microsoft.com/office/drawing/2014/main" id="{592D0969-DB92-409B-909D-E114864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4990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저평가+재무건전+낮은 변동성</a:t>
            </a:r>
          </a:p>
        </p:txBody>
      </p:sp>
      <p:sp>
        <p:nvSpPr>
          <p:cNvPr id="45" name="manual-axis-label-6">
            <a:extLst xmlns:a="http://schemas.openxmlformats.org/drawingml/2006/main">
              <a:ext uri="{FF2B5EF4-FFF2-40B4-BE49-F238E27FC236}">
                <a16:creationId xmlns:a16="http://schemas.microsoft.com/office/drawing/2014/main" id="{C34A0CDC-2C48-4107-8A75-E98EF2B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07394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저평가+재무건전</a:t>
            </a:r>
          </a:p>
        </p:txBody>
      </p:sp>
      <p:sp>
        <p:nvSpPr>
          <p:cNvPr id="46" name="manual-axis-label-7">
            <a:extLst xmlns:a="http://schemas.openxmlformats.org/drawingml/2006/main">
              <a:ext uri="{FF2B5EF4-FFF2-40B4-BE49-F238E27FC236}">
                <a16:creationId xmlns:a16="http://schemas.microsoft.com/office/drawing/2014/main" id="{183ED909-7FE7-4786-A41F-49214640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89798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저평가+이익성장</a:t>
            </a:r>
          </a:p>
        </p:txBody>
      </p:sp>
      <p:sp>
        <p:nvSpPr>
          <p:cNvPr id="47" name="manual-axis-label-8">
            <a:extLst xmlns:a="http://schemas.openxmlformats.org/drawingml/2006/main">
              <a:ext uri="{FF2B5EF4-FFF2-40B4-BE49-F238E27FC236}">
                <a16:creationId xmlns:a16="http://schemas.microsoft.com/office/drawing/2014/main" id="{6BCA07B4-A367-435C-BD64-8C25B7B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72201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저평가</a:t>
            </a:r>
          </a:p>
        </p:txBody>
      </p:sp>
      <p:sp>
        <p:nvSpPr>
          <p:cNvPr id="48" name="manual-axis-label-9">
            <a:extLst xmlns:a="http://schemas.openxmlformats.org/drawingml/2006/main">
              <a:ext uri="{FF2B5EF4-FFF2-40B4-BE49-F238E27FC236}">
                <a16:creationId xmlns:a16="http://schemas.microsoft.com/office/drawing/2014/main" id="{29A5B2EA-7888-4B83-B8B0-938F0FA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54605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주가 상승세</a:t>
            </a:r>
          </a:p>
        </p:txBody>
      </p:sp>
      <p:sp>
        <p:nvSpPr>
          <p:cNvPr id="49" name="manual-axis-label-10">
            <a:extLst xmlns:a="http://schemas.openxmlformats.org/drawingml/2006/main">
              <a:ext uri="{FF2B5EF4-FFF2-40B4-BE49-F238E27FC236}">
                <a16:creationId xmlns:a16="http://schemas.microsoft.com/office/drawing/2014/main" id="{12F5E829-962A-4119-A70E-D063C59E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37009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기본 혼합전략</a:t>
            </a:r>
          </a:p>
        </p:txBody>
      </p:sp>
      <p:sp>
        <p:nvSpPr>
          <p:cNvPr id="50" name="manual-axis-label-11">
            <a:extLst xmlns:a="http://schemas.openxmlformats.org/drawingml/2006/main">
              <a:ext uri="{FF2B5EF4-FFF2-40B4-BE49-F238E27FC236}">
                <a16:creationId xmlns:a16="http://schemas.microsoft.com/office/drawing/2014/main" id="{8BCA77E9-5BB4-497B-BB28-848DF12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19413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자산수익성</a:t>
            </a:r>
          </a:p>
        </p:txBody>
      </p:sp>
      <p:sp>
        <p:nvSpPr>
          <p:cNvPr id="51" name="manual-axis-label-12">
            <a:extLst xmlns:a="http://schemas.openxmlformats.org/drawingml/2006/main">
              <a:ext uri="{FF2B5EF4-FFF2-40B4-BE49-F238E27FC236}">
                <a16:creationId xmlns:a16="http://schemas.microsoft.com/office/drawing/2014/main" id="{C83E5DB4-BDD4-4D29-BD78-4E0C648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1816"/>
            <a:ext cx="1809750" cy="182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35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735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주당순이익 성장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주가 상승세를 다르게 재자 52주 최고가 전략이 앞섰다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10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08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52주 최고가 근접</a:t>
            </a:r>
            <a:r>
              <a:t>  최대 낙폭 -26% · 검증구간 연평균 14.0% · 통계 검증 통과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9150" y="962025"/>
          <a:ext xmlns:a="http://schemas.openxmlformats.org/drawingml/2006/main" cx="75057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ade42afb84d8d"/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최종 규칙은 간단하지만 데이터 사용 원칙은 엄격하다</a:t>
            </a:r>
          </a:p>
        </p:txBody>
      </p:sp>
      <p:cxnSp>
        <p:nvCxnSpPr>
          <p:cNvPr id="133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2026-07-16 · 11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투자 대상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전년말 한국거래소 보통주 시총 상위 300종목
이 명단을 다음 해에 사용 · 연 1회 교체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종목 고르기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1년 최고가에 가장 가까운 15종목
기존 보유종목은 45위까지 유지 · 종목당 6.67%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손실 방어와 주문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매달 재선정 · 코스피 200일선 아래면 전액 현금
다음 날 시가 주문 · 비용 매수 0.25% / 매도 0.43%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52주 전략이 수익·위험·검증의 균형점이었다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12</a:t>
            </a:r>
          </a:p>
        </p:txBody>
      </p:sp>
      <p:graphicFrame>
        <p:nvGraphicFramePr>
          <p:cNvPr id="51" name="Google Shape;31;p4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 점수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최대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통계 검증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6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· 데이터 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근접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16.41%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0.90점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-26.01%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통과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11.80%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0.57점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-35.98%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6.14%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11.29%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0.66점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-31.75%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10.1%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시장 전체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5.20%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0.41점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-26.96%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8.49%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해당 없음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구형 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8.82%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0.55점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-36.48%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2.83%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미달 · A등급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52주 전략</a:t>
            </a:r>
            <a:r>
              <a:t>  코스피(방어 없음) 연 6.0% 대비 +10.4%p 초과 · 비용 반영 후    |    연 매매 6.6배 · 통계검증 유일 통과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연도별 성과는 강한 해와 손실 해를 함께 보인다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2017~2026년(연초 이후) · 13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4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4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막대 숫자 = 해당 연도 수익률</a:t>
            </a:r>
            <a:r>
              <a:t>    |    ⚠ 2018·2019·2022(코스피 −25%) 원본 미보존 → 최악 연도 누락    |    2026은 연초 이후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9150" y="933450"/>
          <a:ext xmlns:a="http://schemas.openxmlformats.org/drawingml/2006/main" cx="7505700" cy="2819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9e3286f86b424a"/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52주 전략은 46% 승률을 2.28배 손익비로 보완했다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14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전체 452사이클 · 승률 46.02% · 손익비 2.28배 · PF 1.73    |    2026년은 7월 16일까지 실제 청산분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8412480" cy="2865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066800"/>
                <a:gridCol w="990600"/>
                <a:gridCol w="1047750"/>
                <a:gridCol w="1200150"/>
                <a:gridCol w="1200150"/>
                <a:gridCol w="1143000"/>
                <a:gridCol w="1021080"/>
              </a:tblGrid>
              <a:tr h="304800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수익률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사이클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이익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손실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+20.48%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57.14%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+14.59%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-10.61%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-0.42%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+19.72%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-8.78%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2.25배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+73.22%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47.27%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+33.44%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-13.09%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2.56배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+31.00%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56.58%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+27.31%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-10.31%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2.65배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+20.46%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-13.72%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2.19배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-13.30%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29.41%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+14.87%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-10.95%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1.36배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0.55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+26.44%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43.14%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+30.33%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-9.55%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3.18배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 YTD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+23.31%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48.61%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+30.60%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-14.55%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2.10배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1.74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기본 혼합전략은 1.65배 손익비로 중간 수준이었다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15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전체 475사이클 · 승률 44.21% · 손익비 1.65배 · PF 1.27    |    2026년은 7월 16일까지 실제 청산분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8412480" cy="2865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066800"/>
                <a:gridCol w="990600"/>
                <a:gridCol w="1047750"/>
                <a:gridCol w="1200150"/>
                <a:gridCol w="1200150"/>
                <a:gridCol w="1143000"/>
                <a:gridCol w="1021080"/>
              </a:tblGrid>
              <a:tr h="304800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수익률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사이클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이익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손실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+21.35%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45.16%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+13.83%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-5.93%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2.33배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-4.32%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46.30%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+10.19%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-10.01%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+2.97%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-3.15%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+71.33%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55.22%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+10.83%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-6.17%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1.75배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2.09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-0.91%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47.37%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+19.40%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-11.31%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1.72배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-20.90%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27.08%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+11.81%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-10.71%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1.10배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+3.74%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34.29%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+13.60%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-7.11%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1.91배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+38.81%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+9.73%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-7.47%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1.30배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 YTD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+25.23%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51.11%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+26.36%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-13.45%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1.96배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1.60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이익성장 전략은 50.8% 승률로 가장 높았다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16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전체 415사이클 · 승률 50.84% · 손익비 1.68배 · PF 1.56    |    2026년은 7월 16일까지 실제 청산분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8412480" cy="2865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066800"/>
                <a:gridCol w="990600"/>
                <a:gridCol w="1047750"/>
                <a:gridCol w="1200150"/>
                <a:gridCol w="1200150"/>
                <a:gridCol w="1143000"/>
                <a:gridCol w="1021080"/>
              </a:tblGrid>
              <a:tr h="304800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수익률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사이클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이익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손실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+34.02%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62.75%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+18.56%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-7.03%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2.64배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3.81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-6.64%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44.64%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+7.53%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-9.36%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0.80배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+2.95%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+47.53%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56.36%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+14.03%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-9.59%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1.46배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1.81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+8.48%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54.93%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+19.32%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-10.20%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1.89배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-12.28%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21.95%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+18.14%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-10.36%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1.75배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+1.03%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45.21%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+10.84%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-8.42%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1.29배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1.05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+46.96%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73.08%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+18.07%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-8.19%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2.21배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 YTD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+3.30%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54.76%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+27.40%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-15.28%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1.79배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1.64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시장 전체 전략은 많은 거래에도 PF 1.18에 그쳤다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17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전체 2,196사이클 · 승률 40.16% · 손익비 1.93배 · PF 1.18    |    2026년은 7월 16일까지 실제 청산분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8412480" cy="2865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066800"/>
                <a:gridCol w="990600"/>
                <a:gridCol w="1047750"/>
                <a:gridCol w="1200150"/>
                <a:gridCol w="1200150"/>
                <a:gridCol w="1143000"/>
                <a:gridCol w="1021080"/>
              </a:tblGrid>
              <a:tr h="304800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수익률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사이클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이익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손실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+8.66%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-94.42%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-0.59%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359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52.92%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+19.89%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-13.55%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1.47배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+7.60%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279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10.75%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+13.98%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-15.26%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0.92배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0.11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+5.25%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59.28%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+30.52%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-13.51%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2.26배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-0.72%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32.79%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+35.26%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-16.97%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2.08배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-10.46%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453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25.17%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+24.18%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-13.13%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1.84배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+26.34%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16.83%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+3.83%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-9.88%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0.39배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 YTD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+18.04%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290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59.66%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+32.66%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-14.18%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2.30배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구형 전략은 변동성 타깃 뒤 손익비가 1.51배였다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18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전체 475사이클 · 승률 43.58% · 손익비 1.51배 · PF 1.31    |    2026년은 7월 16일까지 실제 청산분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8412480" cy="2865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066800"/>
                <a:gridCol w="990600"/>
                <a:gridCol w="1047750"/>
                <a:gridCol w="1200150"/>
                <a:gridCol w="1200150"/>
                <a:gridCol w="1143000"/>
                <a:gridCol w="1021080"/>
              </a:tblGrid>
              <a:tr h="304800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수익률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사이클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승률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이익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손실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손익비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4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</a:t>
                      </a:r>
                    </a:p>
                  </a:txBody>
                  <a:tcPr marL="28575" marR="28575" marT="19050" marB="19050" anchor="ctr">
                    <a:solidFill>
                      <a:srgbClr val="1B3A5C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+21.88%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45.16%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+13.04%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-5.69%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2.29배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-3.39%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44.44%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+8.40%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-8.06%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1.04배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+2.97%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-3.15%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+53.31%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55.22%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+8.60%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-5.46%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1.57배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2.18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-5.71%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47.37%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+13.56%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-8.86%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1.53배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-22.11%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+9.59%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-9.33%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1.03배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-1.21%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30.00%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+11.01%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-6.30%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1.75배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0.96</a:t>
                      </a:r>
                    </a:p>
                  </a:txBody>
                  <a:tcPr marL="28575" marR="28575" marT="19050" marB="19050" anchor="ctr">
                    <a:solidFill>
                      <a:srgbClr val="F5F7FA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+38.61%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50.00%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+7.87%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-6.46%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1.22배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1B3A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 YTD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+19.71%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51.11%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+18.14%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C659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-10.57%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1.72배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810">
                          <a:solidFill>
                            <a:srgbClr val="2434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2.37</a:t>
                      </a:r>
                    </a:p>
                  </a:txBody>
                  <a:tcPr marL="28575" marR="28575" marT="19050" marB="19050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시가총액 상위 300종목이 가장 균형적이었다</a:t>
            </a:r>
          </a:p>
        </p:txBody>
      </p:sp>
      <p:cxnSp>
        <p:nvCxnSpPr>
          <p:cNvPr id="70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19</a:t>
            </a:r>
          </a:p>
        </p:txBody>
      </p:sp>
      <p:graphicFrame>
        <p:nvGraphicFramePr>
          <p:cNvPr id="72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투자 대상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전체기간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연평균·점수·낙폭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연평균·낙폭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4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연간 매매 규모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100종목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7.9% · 0.53점 · -30%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15.4% · -22%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2.7배 ·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300종목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16.4% · 0.90점 · -26%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14.0% · -19%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6.6배 · 통계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500종목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14.9% · 0.74점 · -24%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20.6% · -19%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원금 8.6배 ·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결정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 300종목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유일하게 통계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100·500은 통계 미달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거래소 공식 원장 아님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검증기간 약 3.5년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90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상위500은 거래충격 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0">
            <a:extLst xmlns:a="http://schemas.openxmlformats.org/drawingml/2006/main">
              <a:ext uri="{FF2B5EF4-FFF2-40B4-BE49-F238E27FC236}">
                <a16:creationId xmlns:a16="http://schemas.microsoft.com/office/drawing/2014/main" id="{580E377C-FC5C-4E24-910B-A83E5D0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10">
            <a:extLst xmlns:a="http://schemas.openxmlformats.org/drawingml/2006/main">
              <a:ext uri="{FF2B5EF4-FFF2-40B4-BE49-F238E27FC236}">
                <a16:creationId xmlns:a16="http://schemas.microsoft.com/office/drawing/2014/main" id="{9F8DB90B-6E04-4869-A463-7C5D78E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200일 이동평균선이 최대 낙폭을 절반가량 줄였다</a:t>
            </a:r>
          </a:p>
        </p:txBody>
      </p:sp>
      <p:cxnSp>
        <p:nvCxnSpPr>
          <p:cNvPr id="107" name="Google Shape;90;p10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0">
            <a:extLst xmlns:a="http://schemas.openxmlformats.org/drawingml/2006/main">
              <a:ext uri="{FF2B5EF4-FFF2-40B4-BE49-F238E27FC236}">
                <a16:creationId xmlns:a16="http://schemas.microsoft.com/office/drawing/2014/main" id="{4C697FE6-7A66-4FEF-B778-3F1ACAB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20</a:t>
            </a:r>
          </a:p>
        </p:txBody>
      </p:sp>
      <p:sp>
        <p:nvSpPr>
          <p:cNvPr id="92" name="Google Shape;92;p10">
            <a:extLst xmlns:a="http://schemas.openxmlformats.org/drawingml/2006/main">
              <a:ext uri="{FF2B5EF4-FFF2-40B4-BE49-F238E27FC236}">
                <a16:creationId xmlns:a16="http://schemas.microsoft.com/office/drawing/2014/main" id="{A11262F1-953E-498D-83E7-96C03FE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10">
            <a:extLst xmlns:a="http://schemas.openxmlformats.org/drawingml/2006/main">
              <a:ext uri="{FF2B5EF4-FFF2-40B4-BE49-F238E27FC236}">
                <a16:creationId xmlns:a16="http://schemas.microsoft.com/office/drawing/2014/main" id="{43661415-D667-4B75-9FF8-CC311A9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200일선이 만든 방어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23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시장 전체 · 방어 없음
연평균 6.0% · 최대 낙폭 -52.8%
시장 전체 · 200일선 적용
연평균 5.2% · 최대 낙폭 -27.0%
주가상승+이익성장 전략
최대 낙폭 -57.31% → -35.98%</a:t>
            </a:r>
          </a:p>
        </p:txBody>
      </p:sp>
      <p:sp>
        <p:nvSpPr>
          <p:cNvPr id="94" name="Google Shape;94;p10">
            <a:extLst xmlns:a="http://schemas.openxmlformats.org/drawingml/2006/main">
              <a:ext uri="{FF2B5EF4-FFF2-40B4-BE49-F238E27FC236}">
                <a16:creationId xmlns:a16="http://schemas.microsoft.com/office/drawing/2014/main" id="{9968B9BB-22C8-4493-B123-F2EC0F5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05840"/>
            <a:ext cx="38404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5" name="Google Shape;95;p10">
            <a:extLst xmlns:a="http://schemas.openxmlformats.org/drawingml/2006/main">
              <a:ext uri="{FF2B5EF4-FFF2-40B4-BE49-F238E27FC236}">
                <a16:creationId xmlns:a16="http://schemas.microsoft.com/office/drawing/2014/main" id="{6536140E-66A1-46F3-BB4E-1F46F03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88720"/>
            <a:ext cx="32918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변동성 제한은 수익만 줄였다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223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23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목표 변동성을 높일수록 수익률이 상승
12%: 7.60% → 18%: 8.82%
30%: 10.39% → 제한 없음: 11.80%
18% 제한은 낙폭을 줄이지 못해
연평균 수익률만 약 3%포인트 감소</a:t>
            </a:r>
          </a:p>
        </p:txBody>
      </p:sp>
    </p:spTree>
    <p:extLst>
      <p:ext uri="{BB962C8B-B14F-4D97-AF65-F5344CB8AC3E}">
        <p14:creationId xmlns:p14="http://schemas.microsoft.com/office/powerpoint/2010/main" val="18984345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대안 전략은 수익률보다 쓰임새가 다르다</a:t>
            </a:r>
          </a:p>
        </p:txBody>
      </p:sp>
      <p:cxnSp>
        <p:nvCxnSpPr>
          <p:cNvPr id="70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A등급 · 2017-01-02~2026-07-16 · 21</a:t>
            </a:r>
          </a:p>
        </p:txBody>
      </p:sp>
      <p:graphicFrame>
        <p:nvGraphicFramePr>
          <p:cNvPr id="72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3429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종목을 고르는 방법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 수익·점수·최대낙폭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15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쓰임새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근접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15종목 · 45위까지 유지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16.41% · 0.90점 · -26.01%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수익·균형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주가상승+이익성장 · 5일마다 · 10종목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11.80% · 0.57점 · -35.98%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기준선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중심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이익·매출 성장만 · 15종목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11.29% · 0.66점 · -31.75%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적극적 선택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시장 전체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약 200종목 · 월 1회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5.20% · 0.41점 · -26.96%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자본보존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3048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이익성장 + 보유완충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월 1회 · 15종목 · 45위까지 유지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연 9.96% · 0.60점 · -28.65%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0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매매 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9183C7E-791A-4586-A04D-8AF85AF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DE55F523-B84D-488F-BEBC-D79C83A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전체 전략군은 채택·보조·기각으로 정리된다</a:t>
            </a:r>
          </a:p>
        </p:txBody>
      </p:sp>
      <p:cxnSp>
        <p:nvCxnSpPr>
          <p:cNvPr id="70" name="Google Shape;53;p6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DD1DA8A4-C146-46B6-A3F7-157D075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22</a:t>
            </a:r>
          </a:p>
        </p:txBody>
      </p:sp>
      <p:graphicFrame>
        <p:nvGraphicFramePr>
          <p:cNvPr id="72" name="Google Shape;55;p6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27622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분류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전략군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판정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38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근거·다음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채택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52주 최고가 · 상위300 ·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운용 후보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통계 검증 유일 통과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6E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보조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기본 혼합 · 이익성장 · 시장전체+200일선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목적별 사용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기준선·적극선택·보존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기각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초기 돌파 · 12가지 기준 · 18% 변동성 제한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대표전략 제외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실패·통계미달·수익감소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CEBE8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추가검증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한국거래소 공식 원장 · 미국 학술자료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숫자 대기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기업행사·상폐 완전검증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8D9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비교금지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C등급 연평균 30~40%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아이디어 전용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93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A등급과 직접 비교 금지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369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실제 운용은 월 1회 선정하고 다음 날 주문한다</a:t>
            </a:r>
          </a:p>
        </p:txBody>
      </p:sp>
      <p:cxnSp>
        <p:nvCxnSpPr>
          <p:cNvPr id="133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모델 신호 · 2026-07-19 · 23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월 1회 다시 선정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첫 거래일에 최근 1년 최고가 근접도를 다시 계산
상위 15종목 · 기존 보유는 45위까지 유지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200일 이동평균선 확인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주 1회 이상 코스피와 200일선을 비교
3% 아래면 전액 현금 · 다시 3% 위면 재진입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사람이 최종 주문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계산은 자동 → 거래정지·매매호가·공시를 확인
다음 날 시가에 주문 · 실제 주문은 수동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1">
            <a:extLst xmlns:a="http://schemas.openxmlformats.org/drawingml/2006/main">
              <a:ext uri="{FF2B5EF4-FFF2-40B4-BE49-F238E27FC236}">
                <a16:creationId xmlns:a16="http://schemas.microsoft.com/office/drawing/2014/main" id="{38CDF35B-802E-415E-9689-960BAB4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2" name="Google Shape;102;p11">
            <a:extLst xmlns:a="http://schemas.openxmlformats.org/drawingml/2006/main">
              <a:ext uri="{FF2B5EF4-FFF2-40B4-BE49-F238E27FC236}">
                <a16:creationId xmlns:a16="http://schemas.microsoft.com/office/drawing/2014/main" id="{4F537A3C-AF09-4355-9386-99CABF4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더존비즈온 오류가 거래가능성 필터를 만들었다</a:t>
            </a:r>
          </a:p>
        </p:txBody>
      </p:sp>
      <p:cxnSp>
        <p:nvCxnSpPr>
          <p:cNvPr id="122" name="Google Shape;103;p11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11">
            <a:extLst xmlns:a="http://schemas.openxmlformats.org/drawingml/2006/main">
              <a:ext uri="{FF2B5EF4-FFF2-40B4-BE49-F238E27FC236}">
                <a16:creationId xmlns:a16="http://schemas.microsoft.com/office/drawing/2014/main" id="{235C8BC7-13A8-4A24-BEA6-81555524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모델 신호 · 2026-07-19 · 24</a:t>
            </a:r>
          </a:p>
        </p:txBody>
      </p:sp>
      <p:sp>
        <p:nvSpPr>
          <p:cNvPr id="105" name="Google Shape;105;p11">
            <a:extLst xmlns:a="http://schemas.openxmlformats.org/drawingml/2006/main">
              <a:ext uri="{FF2B5EF4-FFF2-40B4-BE49-F238E27FC236}">
                <a16:creationId xmlns:a16="http://schemas.microsoft.com/office/drawing/2014/main" id="{94ECEA4F-E0E8-4C2A-8F4C-806B5AD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6" name="Google Shape;106;p11">
            <a:extLst xmlns:a="http://schemas.openxmlformats.org/drawingml/2006/main">
              <a:ext uri="{FF2B5EF4-FFF2-40B4-BE49-F238E27FC236}">
                <a16:creationId xmlns:a16="http://schemas.microsoft.com/office/drawing/2014/main" id="{45AE1B03-023F-41CE-8F1B-33961A3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11">
            <a:extLst xmlns:a="http://schemas.openxmlformats.org/drawingml/2006/main">
              <a:ext uri="{FF2B5EF4-FFF2-40B4-BE49-F238E27FC236}">
                <a16:creationId xmlns:a16="http://schemas.microsoft.com/office/drawing/2014/main" id="{A96098D0-80CB-48DA-9C86-8B27A3D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오류 — 거래정지 종목을 ‘가격이 있다’고 오인</a:t>
            </a:r>
          </a:p>
          <a:p xmlns:a="http://schemas.openxmlformats.org/drawingml/2006/main">
            <a:pPr algn="l"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더존비즈온(012510): 정지 기간에도 마지막 종가는 반복됐지만 시가·고가·저가·거래량은 0 → 7월 명단에 잘못 포함</a:t>
            </a:r>
          </a:p>
        </p:txBody>
      </p:sp>
      <p:sp>
        <p:nvSpPr>
          <p:cNvPr id="108" name="Google Shape;108;p11">
            <a:extLst xmlns:a="http://schemas.openxmlformats.org/drawingml/2006/main">
              <a:ext uri="{FF2B5EF4-FFF2-40B4-BE49-F238E27FC236}">
                <a16:creationId xmlns:a16="http://schemas.microsoft.com/office/drawing/2014/main" id="{85116D3E-5183-491D-929E-E0D2153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0467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2700" cmpd="sng">
            <a:solidFill>
              <a:srgbClr val="E0E0E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11">
            <a:extLst xmlns:a="http://schemas.openxmlformats.org/drawingml/2006/main">
              <a:ext uri="{FF2B5EF4-FFF2-40B4-BE49-F238E27FC236}">
                <a16:creationId xmlns:a16="http://schemas.microsoft.com/office/drawing/2014/main" id="{43B0CE16-2FA9-4735-8C68-D01A7C6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11">
            <a:extLst xmlns:a="http://schemas.openxmlformats.org/drawingml/2006/main">
              <a:ext uri="{FF2B5EF4-FFF2-40B4-BE49-F238E27FC236}">
                <a16:creationId xmlns:a16="http://schemas.microsoft.com/office/drawing/2014/main" id="{0A09FBD8-77D2-48E5-ABBC-2D6143C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7315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수정 — 실제 거래 가능 여부 확인 + 수동 주문</a:t>
            </a:r>
          </a:p>
          <a:p xmlns:a="http://schemas.openxmlformats.org/drawingml/2006/main">
            <a:pPr algn="l">
              <a:buNone/>
              <a:defRPr sz="1238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신호일의 시가·고가·저가·종가와 거래량이 모두 0보다 큰 종목만 허용 · 자동 계산 결과는 실제 체결이 아님</a:t>
            </a:r>
          </a:p>
        </p:txBody>
      </p:sp>
    </p:spTree>
    <p:extLst>
      <p:ext uri="{BB962C8B-B14F-4D97-AF65-F5344CB8AC3E}">
        <p14:creationId xmlns:p14="http://schemas.microsoft.com/office/powerpoint/2010/main" val="10601975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2330BC9-829C-4269-A8FF-4A3DECC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C27B890-FADD-4AF6-8246-43DDF45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미국 무료 상위 500종목 전략은 대형주 지수를 못 이겼다</a:t>
            </a:r>
          </a:p>
        </p:txBody>
      </p:sp>
      <p:cxnSp>
        <p:nvCxnSpPr>
          <p:cNvPr id="49" name="Google Shape;29;p4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EF3CF8A-E3B4-44F8-B8ED-54BC5E6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데이터 B등급 · 2021-01-04~2025-12-31 · 25</a:t>
            </a:r>
          </a:p>
        </p:txBody>
      </p:sp>
      <p:graphicFrame>
        <p:nvGraphicFramePr>
          <p:cNvPr id="51" name="Google Shape;31;p4"/>
          <p:cNvGraphicFramePr/>
          <p:nvPr/>
        </p:nvGraphicFramePr>
        <p:xfrm>
          <a:off xmlns:a="http://schemas.openxmlformats.org/drawingml/2006/main" x="365760" y="10058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주간 전략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위험 대비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수익 점수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최대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낙폭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검증구간</a:t>
                      </a: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연평균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92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판정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 + 200일선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13.90%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0.71점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-24.08%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28.01%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대형주 지수보다 낮음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주가상승 · 방어 없음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14.59%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0.69점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-31.21%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36.92%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대형주 지수와 비슷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 + 이익성장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8.79%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0.54점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-24.81%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15.21%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수익 감소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주가 + 재무건전·이익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6.82%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0.45점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-25.79%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10.54%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0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가장 약함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295275"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미국 대형주 지수 추종상품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14.69%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0.89점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-24.50%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21.64%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 wrap="square" lIns="47625" tIns="19050" rIns="47625" bIns="19050" anchor="ctr">
                      <a:normAutofit/>
                    </a:bodyPr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sz="878" b="1" u="none" cap="none">
                          <a:solidFill>
                            <a:srgbClr val="2F3E4D"/>
                          </a:solidFill>
                          <a:latin typeface="Calibri"/>
                          <a:ea typeface="Calibri"/>
                          <a:cs typeface="Calibri"/>
                        </a:rPr>
                        <a:t>비교 기준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DDDDDD"/>
                      </a:solidFill>
                      <a:prstDash val="solid"/>
                    </a:lnL>
                    <a:lnR w="9525" cmpd="sng">
                      <a:solidFill>
                        <a:srgbClr val="DDDDDD"/>
                      </a:solidFill>
                      <a:prstDash val="solid"/>
                    </a:lnR>
                    <a:lnT w="9525" cmpd="sng">
                      <a:solidFill>
                        <a:srgbClr val="DDDDDD"/>
                      </a:solidFill>
                      <a:prstDash val="solid"/>
                    </a:lnT>
                    <a:lnB w="9525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4E0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4D9408C-70BD-4623-B903-CD935AD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8046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2F34915-C869-414F-B4B6-8A93DA3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7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17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검증된 초과수익 없음</a:t>
            </a:r>
            <a:r>
              <a:t>    |    검증구간 약 2년(2024~25 강세장 국면)    |    미국 공식 주가·재무자료 결과는 아직 없음</a:t>
            </a:r>
          </a:p>
        </p:txBody>
      </p:sp>
    </p:spTree>
    <p:extLst>
      <p:ext uri="{BB962C8B-B14F-4D97-AF65-F5344CB8AC3E}">
        <p14:creationId xmlns:p14="http://schemas.microsoft.com/office/powerpoint/2010/main" val="2471733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2">
            <a:extLst xmlns:a="http://schemas.openxmlformats.org/drawingml/2006/main">
              <a:ext uri="{FF2B5EF4-FFF2-40B4-BE49-F238E27FC236}">
                <a16:creationId xmlns:a16="http://schemas.microsoft.com/office/drawing/2014/main" id="{5ABF0630-E927-423C-A4CF-04A73D8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12">
            <a:extLst xmlns:a="http://schemas.openxmlformats.org/drawingml/2006/main">
              <a:ext uri="{FF2B5EF4-FFF2-40B4-BE49-F238E27FC236}">
                <a16:creationId xmlns:a16="http://schemas.microsoft.com/office/drawing/2014/main" id="{F82C91F1-C15C-4538-BBC8-E9D5F5B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B3A5C"/>
                </a:solidFill>
                <a:latin typeface="Arial Black"/>
                <a:ea typeface="Arial Black"/>
                <a:cs typeface="Arial Black"/>
              </a:defRPr>
            </a:pPr>
            <a:r>
              <a:rPr sz="2200" b="1">
                <a:solidFill>
                  <a:srgbClr val="1B3A5C"/>
                </a:solidFill>
                <a:latin typeface="맑은 고딕"/>
                <a:ea typeface="맑은 고딕"/>
                <a:cs typeface="맑은 고딕"/>
              </a:rPr>
              <a:t>현재 결론은 강한 후보 하나와 세 가지 검증 과제다</a:t>
            </a:r>
          </a:p>
        </p:txBody>
      </p:sp>
      <p:cxnSp>
        <p:nvCxnSpPr>
          <p:cNvPr id="133" name="Google Shape;118;p12"/>
          <p:cNvCxnSpPr/>
          <p:nvPr/>
        </p:nvCxnSpPr>
        <p:spPr>
          <a:xfrm xmlns:a="http://schemas.openxmlformats.org/drawingml/2006/main">
            <a:off x="548640" y="73152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E75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2">
            <a:extLst xmlns:a="http://schemas.openxmlformats.org/drawingml/2006/main">
              <a:ext uri="{FF2B5EF4-FFF2-40B4-BE49-F238E27FC236}">
                <a16:creationId xmlns:a16="http://schemas.microsoft.com/office/drawing/2014/main" id="{BCA99200-9576-435B-B3CD-986FACC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23774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pPr>
            <a:r>
              <a:rPr sz="863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혼합등급 · 2026-07-19 · 26</a:t>
            </a:r>
          </a:p>
        </p:txBody>
      </p:sp>
      <p:sp>
        <p:nvSpPr>
          <p:cNvPr id="120" name="Google Shape;120;p12">
            <a:extLst xmlns:a="http://schemas.openxmlformats.org/drawingml/2006/main">
              <a:ext uri="{FF2B5EF4-FFF2-40B4-BE49-F238E27FC236}">
                <a16:creationId xmlns:a16="http://schemas.microsoft.com/office/drawing/2014/main" id="{D18332BA-F2F6-42A2-8CA5-B57F5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2">
            <a:extLst xmlns:a="http://schemas.openxmlformats.org/drawingml/2006/main">
              <a:ext uri="{FF2B5EF4-FFF2-40B4-BE49-F238E27FC236}">
                <a16:creationId xmlns:a16="http://schemas.microsoft.com/office/drawing/2014/main" id="{8329C9FC-CE35-4C90-8EA8-927CBC7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3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지금 채택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최근 1년 최고가 근접 · 시총 상위300 · 월 1회 15종목
기존 보유는 45위까지 유지 · 코스피 200일선 방어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공통 적용</a:t>
            </a:r>
          </a:p>
          <a:p xmlns:a="http://schemas.openxmlformats.org/drawingml/2006/main">
            <a:pPr algn="l">
              <a:spcAft>
                <a:spcPts val="19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수익률보다 데이터 등급 우선 · 종가로 계산 → 다음 날 시가 주문
실제 거래 가능성·비용·공시 확인</a:t>
            </a:r>
          </a:p>
          <a:p xmlns:a="http://schemas.openxmlformats.org/drawingml/2006/main">
            <a:pPr algn="l">
              <a:spcBef>
                <a:spcPts val="2"/>
              </a:spcBef>
              <a:spcAft>
                <a:spcPts val="3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다음 검증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20">
                <a:solidFill>
                  <a:srgbClr val="2F3E4D"/>
                </a:solidFill>
                <a:latin typeface="Calibri"/>
                <a:ea typeface="Calibri"/>
                <a:cs typeface="Calibri"/>
              </a:defRPr>
            </a:pPr>
            <a:r>
              <a:rPr sz="1320">
                <a:solidFill>
                  <a:srgbClr val="2F3E4D"/>
                </a:solidFill>
                <a:latin typeface="Calibri"/>
                <a:ea typeface="Calibri"/>
                <a:cs typeface="Calibri"/>
              </a:rPr>
              <a:t>① 다른 시기와 추가 거래비용  ② 한국거래소 공식 원장
③ 미국 공식 주가·재무 데이터</a:t>
            </a:r>
          </a:p>
        </p:txBody>
      </p:sp>
    </p:spTree>
    <p:extLst>
      <p:ext uri="{BB962C8B-B14F-4D97-AF65-F5344CB8AC3E}">
        <p14:creationId xmlns:p14="http://schemas.microsoft.com/office/powerpoint/2010/main" val="15210289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2026-07-19T10:55:10.5240000Z</dcterms:created>
  <dcterms:modified xsi:type="dcterms:W3CDTF">2026-07-19T10:55:10.5240000Z</dcterms:modified>
</coreProperties>
</file>